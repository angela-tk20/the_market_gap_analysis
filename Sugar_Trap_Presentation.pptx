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in Healthy Zone</c:v>
                </c:pt>
              </c:strCache>
            </c:strRef>
          </c:tx>
          <c:spPr>
            <a:solidFill>
              <a:srgbClr val="0F6E5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F6E5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755-4DF1-9830-F7B226CC67EF}"/>
              </c:ext>
            </c:extLst>
          </c:dPt>
          <c:dPt>
            <c:idx val="1"/>
            <c:invertIfNegative val="0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755-4DF1-9830-F7B226CC67EF}"/>
              </c:ext>
            </c:extLst>
          </c:dPt>
          <c:dPt>
            <c:idx val="2"/>
            <c:invertIfNegative val="0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755-4DF1-9830-F7B226CC67EF}"/>
              </c:ext>
            </c:extLst>
          </c:dPt>
          <c:dPt>
            <c:idx val="3"/>
            <c:invertIfNegative val="0"/>
            <c:bubble3D val="0"/>
            <c:spPr>
              <a:solidFill>
                <a:srgbClr val="97C45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755-4DF1-9830-F7B226CC67EF}"/>
              </c:ext>
            </c:extLst>
          </c:dPt>
          <c:dPt>
            <c:idx val="4"/>
            <c:invertIfNegative val="0"/>
            <c:bubble3D val="0"/>
            <c:spPr>
              <a:solidFill>
                <a:srgbClr val="97C45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755-4DF1-9830-F7B226CC67EF}"/>
              </c:ext>
            </c:extLst>
          </c:dPt>
          <c:dPt>
            <c:idx val="5"/>
            <c:invertIfNegative val="0"/>
            <c:bubble3D val="0"/>
            <c:spPr>
              <a:solidFill>
                <a:srgbClr val="EF9F2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A755-4DF1-9830-F7B226CC67EF}"/>
              </c:ext>
            </c:extLst>
          </c:dPt>
          <c:dPt>
            <c:idx val="6"/>
            <c:invertIfNegative val="0"/>
            <c:bubble3D val="0"/>
            <c:spPr>
              <a:solidFill>
                <a:srgbClr val="EF9F2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A755-4DF1-9830-F7B226CC67EF}"/>
              </c:ext>
            </c:extLst>
          </c:dPt>
          <c:dPt>
            <c:idx val="7"/>
            <c:invertIfNegative val="0"/>
            <c:bubble3D val="0"/>
            <c:spPr>
              <a:solidFill>
                <a:srgbClr val="EF9F2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A755-4DF1-9830-F7B226CC67EF}"/>
              </c:ext>
            </c:extLst>
          </c:dPt>
          <c:dPt>
            <c:idx val="8"/>
            <c:invertIfNegative val="0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A755-4DF1-9830-F7B226CC67EF}"/>
              </c:ext>
            </c:extLst>
          </c:dPt>
          <c:dPt>
            <c:idx val="9"/>
            <c:invertIfNegative val="0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A755-4DF1-9830-F7B226CC67EF}"/>
              </c:ext>
            </c:extLst>
          </c:dPt>
          <c:dPt>
            <c:idx val="10"/>
            <c:invertIfNegative val="0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A755-4DF1-9830-F7B226CC67EF}"/>
              </c:ext>
            </c:extLst>
          </c:dPt>
          <c:dPt>
            <c:idx val="11"/>
            <c:invertIfNegative val="0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A755-4DF1-9830-F7B226CC67EF}"/>
              </c:ext>
            </c:extLst>
          </c:dPt>
          <c:dPt>
            <c:idx val="12"/>
            <c:invertIfNegative val="0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9-A755-4DF1-9830-F7B226CC67EF}"/>
              </c:ext>
            </c:extLst>
          </c:dPt>
          <c:dPt>
            <c:idx val="13"/>
            <c:invertIfNegative val="0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B-A755-4DF1-9830-F7B226CC67EF}"/>
              </c:ext>
            </c:extLst>
          </c:dPt>
          <c:dPt>
            <c:idx val="14"/>
            <c:invertIfNegative val="0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D-A755-4DF1-9830-F7B226CC67E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GH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Sheet1!$A$2:$A$16</c:f>
              <c:strCache>
                <c:ptCount val="15"/>
                <c:pt idx="0">
                  <c:v>Protein Bars</c:v>
                </c:pt>
                <c:pt idx="1">
                  <c:v>Meat &amp; Fish Snacks</c:v>
                </c:pt>
                <c:pt idx="2">
                  <c:v>Cheese Snacks</c:v>
                </c:pt>
                <c:pt idx="3">
                  <c:v>Other Snacks</c:v>
                </c:pt>
                <c:pt idx="4">
                  <c:v>Cakes &amp; Pastries</c:v>
                </c:pt>
                <c:pt idx="5">
                  <c:v>Granola &amp; Cereals</c:v>
                </c:pt>
                <c:pt idx="6">
                  <c:v>Sweet Spreads</c:v>
                </c:pt>
                <c:pt idx="7">
                  <c:v>Chocolate &amp; Candy</c:v>
                </c:pt>
                <c:pt idx="8">
                  <c:v>Chips &amp; Crisps</c:v>
                </c:pt>
                <c:pt idx="9">
                  <c:v>Crackers</c:v>
                </c:pt>
                <c:pt idx="10">
                  <c:v>Yogurt &amp; Dairy</c:v>
                </c:pt>
                <c:pt idx="11">
                  <c:v>Biscuits &amp; Cookies</c:v>
                </c:pt>
                <c:pt idx="12">
                  <c:v>Popcorn</c:v>
                </c:pt>
                <c:pt idx="13">
                  <c:v>Fruit Snacks</c:v>
                </c:pt>
                <c:pt idx="14">
                  <c:v>Ice Cream &amp; Frozen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70.599999999999994</c:v>
                </c:pt>
                <c:pt idx="1">
                  <c:v>51.9</c:v>
                </c:pt>
                <c:pt idx="2">
                  <c:v>50</c:v>
                </c:pt>
                <c:pt idx="3">
                  <c:v>12.7</c:v>
                </c:pt>
                <c:pt idx="4">
                  <c:v>9.5</c:v>
                </c:pt>
                <c:pt idx="5">
                  <c:v>2.9</c:v>
                </c:pt>
                <c:pt idx="6">
                  <c:v>2.6</c:v>
                </c:pt>
                <c:pt idx="7">
                  <c:v>2</c:v>
                </c:pt>
                <c:pt idx="8">
                  <c:v>1.9</c:v>
                </c:pt>
                <c:pt idx="9">
                  <c:v>1.8</c:v>
                </c:pt>
                <c:pt idx="10">
                  <c:v>1.5</c:v>
                </c:pt>
                <c:pt idx="11">
                  <c:v>1.1000000000000001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A755-4DF1-9830-F7B226CC67E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Triple Zone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5CD-44DC-91B0-5099BD173D9E}"/>
              </c:ext>
            </c:extLst>
          </c:dPt>
          <c:dPt>
            <c:idx val="1"/>
            <c:invertIfNegative val="0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5CD-44DC-91B0-5099BD173D9E}"/>
              </c:ext>
            </c:extLst>
          </c:dPt>
          <c:dPt>
            <c:idx val="2"/>
            <c:invertIfNegative val="0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5CD-44DC-91B0-5099BD173D9E}"/>
              </c:ext>
            </c:extLst>
          </c:dPt>
          <c:dPt>
            <c:idx val="3"/>
            <c:invertIfNegative val="0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5CD-44DC-91B0-5099BD173D9E}"/>
              </c:ext>
            </c:extLst>
          </c:dPt>
          <c:dPt>
            <c:idx val="4"/>
            <c:invertIfNegative val="0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5CD-44DC-91B0-5099BD173D9E}"/>
              </c:ext>
            </c:extLst>
          </c:dPt>
          <c:dPt>
            <c:idx val="5"/>
            <c:invertIfNegative val="0"/>
            <c:bubble3D val="0"/>
            <c:spPr>
              <a:solidFill>
                <a:srgbClr val="EF9F2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5CD-44DC-91B0-5099BD173D9E}"/>
              </c:ext>
            </c:extLst>
          </c:dPt>
          <c:dPt>
            <c:idx val="6"/>
            <c:invertIfNegative val="0"/>
            <c:bubble3D val="0"/>
            <c:spPr>
              <a:solidFill>
                <a:srgbClr val="EF9F2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C5CD-44DC-91B0-5099BD173D9E}"/>
              </c:ext>
            </c:extLst>
          </c:dPt>
          <c:dPt>
            <c:idx val="7"/>
            <c:invertIfNegative val="0"/>
            <c:bubble3D val="0"/>
            <c:spPr>
              <a:solidFill>
                <a:srgbClr val="97C45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C5CD-44DC-91B0-5099BD173D9E}"/>
              </c:ext>
            </c:extLst>
          </c:dPt>
          <c:dPt>
            <c:idx val="8"/>
            <c:invertIfNegative val="0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C5CD-44DC-91B0-5099BD173D9E}"/>
              </c:ext>
            </c:extLst>
          </c:dPt>
          <c:dPt>
            <c:idx val="9"/>
            <c:invertIfNegative val="0"/>
            <c:bubble3D val="0"/>
            <c:spPr>
              <a:solidFill>
                <a:srgbClr val="0F6E5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C5CD-44DC-91B0-5099BD173D9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GH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Biscuits &amp; Cookies</c:v>
                </c:pt>
                <c:pt idx="1">
                  <c:v>Fruit Snacks</c:v>
                </c:pt>
                <c:pt idx="2">
                  <c:v>Ice Cream &amp; Frozen</c:v>
                </c:pt>
                <c:pt idx="3">
                  <c:v>Chocolate &amp; Candy</c:v>
                </c:pt>
                <c:pt idx="4">
                  <c:v>Chips &amp; Crisps</c:v>
                </c:pt>
                <c:pt idx="5">
                  <c:v>Granola &amp; Cereals</c:v>
                </c:pt>
                <c:pt idx="6">
                  <c:v>Cakes &amp; Pastries</c:v>
                </c:pt>
                <c:pt idx="7">
                  <c:v>Nuts &amp; Seeds</c:v>
                </c:pt>
                <c:pt idx="8">
                  <c:v>Meat &amp; Fish Snacks</c:v>
                </c:pt>
                <c:pt idx="9">
                  <c:v>Protein Bars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0.5</c:v>
                </c:pt>
                <c:pt idx="4">
                  <c:v>1</c:v>
                </c:pt>
                <c:pt idx="5">
                  <c:v>2.5</c:v>
                </c:pt>
                <c:pt idx="6">
                  <c:v>4</c:v>
                </c:pt>
                <c:pt idx="7">
                  <c:v>15</c:v>
                </c:pt>
                <c:pt idx="8">
                  <c:v>30</c:v>
                </c:pt>
                <c:pt idx="9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5CD-44DC-91B0-5099BD173D9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8269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6284F"/>
          </a:solidFill>
          <a:ln w="12700">
            <a:solidFill>
              <a:srgbClr val="16284F"/>
            </a:solidFill>
            <a:prstDash val="solid"/>
          </a:ln>
        </p:spPr>
        <p:txBody>
          <a:bodyPr/>
          <a:lstStyle/>
          <a:p>
            <a:endParaRPr lang="en-GH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4" name="Text 2"/>
          <p:cNvSpPr/>
          <p:nvPr/>
        </p:nvSpPr>
        <p:spPr>
          <a:xfrm>
            <a:off x="274320" y="54864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SUGAR TRAP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274320" y="150876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i="1" dirty="0">
                <a:solidFill>
                  <a:srgbClr val="A8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Gap Analysis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74320" y="21488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7B9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is the Blue Ocean in the Snack Aisle?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2880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365760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A8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Client: 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Helix CPG Partners</a:t>
            </a:r>
            <a:r>
              <a:rPr lang="en-US" sz="1200" dirty="0">
                <a:solidFill>
                  <a:srgbClr val="4A6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200" b="1" dirty="0">
                <a:solidFill>
                  <a:srgbClr val="A8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Food Facts</a:t>
            </a:r>
            <a:r>
              <a:rPr lang="en-US" sz="1200" dirty="0">
                <a:solidFill>
                  <a:srgbClr val="4A6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500,000 Products Analysed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42062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Analyst: Angela Tenkorang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Business Question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1371600"/>
          </a:xfrm>
          <a:prstGeom prst="rect">
            <a:avLst/>
          </a:prstGeom>
          <a:solidFill>
            <a:srgbClr val="EAF3DE"/>
          </a:solidFill>
          <a:ln w="12700">
            <a:solidFill>
              <a:srgbClr val="C0DD97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r>
              <a:rPr lang="en-US" sz="2000" b="1" i="1" dirty="0">
                <a:solidFill>
                  <a:srgbClr val="1F386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is the Blue Ocean in the snack aisle?</a:t>
            </a:r>
            <a:r>
              <a:rPr lang="en-US" sz="40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65760" y="2926080"/>
            <a:ext cx="2651760" cy="1737360"/>
          </a:xfrm>
          <a:prstGeom prst="rect">
            <a:avLst/>
          </a:prstGeom>
          <a:solidFill>
            <a:srgbClr val="F2F2F2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7" name="Shape 5"/>
          <p:cNvSpPr/>
          <p:nvPr/>
        </p:nvSpPr>
        <p:spPr>
          <a:xfrm>
            <a:off x="365760" y="2926080"/>
            <a:ext cx="2651760" cy="3200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8" name="Text 6"/>
          <p:cNvSpPr/>
          <p:nvPr/>
        </p:nvSpPr>
        <p:spPr>
          <a:xfrm>
            <a:off x="365760" y="2926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Client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3337560"/>
            <a:ext cx="243230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global snack manufacturer wants to launch a Healthy Snacking product line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2926080"/>
            <a:ext cx="2651760" cy="1737360"/>
          </a:xfrm>
          <a:prstGeom prst="rect">
            <a:avLst/>
          </a:prstGeom>
          <a:solidFill>
            <a:srgbClr val="F2F2F2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11" name="Shape 9"/>
          <p:cNvSpPr/>
          <p:nvPr/>
        </p:nvSpPr>
        <p:spPr>
          <a:xfrm>
            <a:off x="3200400" y="2926080"/>
            <a:ext cx="2651760" cy="3200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12" name="Text 10"/>
          <p:cNvSpPr/>
          <p:nvPr/>
        </p:nvSpPr>
        <p:spPr>
          <a:xfrm>
            <a:off x="3200400" y="2926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Problem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10128" y="3337560"/>
            <a:ext cx="243230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is oversaturated with sugary treats , but they lack data to prove where the gaps are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2926080"/>
            <a:ext cx="2651760" cy="1737360"/>
          </a:xfrm>
          <a:prstGeom prst="rect">
            <a:avLst/>
          </a:prstGeom>
          <a:solidFill>
            <a:srgbClr val="F2F2F2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15" name="Shape 13"/>
          <p:cNvSpPr/>
          <p:nvPr/>
        </p:nvSpPr>
        <p:spPr>
          <a:xfrm>
            <a:off x="6035040" y="2926080"/>
            <a:ext cx="2651760" cy="3200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16" name="Text 14"/>
          <p:cNvSpPr/>
          <p:nvPr/>
        </p:nvSpPr>
        <p:spPr>
          <a:xfrm>
            <a:off x="6035040" y="2926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Our Mission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44768" y="3337560"/>
            <a:ext cx="243230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Open Food Facts (500k products) to identify where healthy demand is unmet by current supply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Methodology — 5 Sprints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1508760" cy="3474720"/>
          </a:xfrm>
          <a:prstGeom prst="rect">
            <a:avLst/>
          </a:prstGeom>
          <a:solidFill>
            <a:srgbClr val="F2F2F2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594360" cy="594360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47472" y="2148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</a:rPr>
              <a:t>Sprint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245059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926080"/>
            <a:ext cx="13258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500k rows loaded. Nulls removed. Impossible values filtered. Duplicates dropped.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11680" y="1280160"/>
            <a:ext cx="1508760" cy="3474720"/>
          </a:xfrm>
          <a:prstGeom prst="rect">
            <a:avLst/>
          </a:prstGeom>
          <a:solidFill>
            <a:srgbClr val="F2F2F2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11" name="Shape 9"/>
          <p:cNvSpPr/>
          <p:nvPr/>
        </p:nvSpPr>
        <p:spPr>
          <a:xfrm>
            <a:off x="2468880" y="1417320"/>
            <a:ext cx="594360" cy="594360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12" name="Text 10"/>
          <p:cNvSpPr/>
          <p:nvPr/>
        </p:nvSpPr>
        <p:spPr>
          <a:xfrm>
            <a:off x="2468880" y="1417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084832" y="2148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</a:rPr>
              <a:t>Sprint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84832" y="245059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Wrangling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03120" y="2926080"/>
            <a:ext cx="13258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clean category buckets created from 10,000 messy raw tags.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49040" y="1280160"/>
            <a:ext cx="1508760" cy="3474720"/>
          </a:xfrm>
          <a:prstGeom prst="rect">
            <a:avLst/>
          </a:prstGeom>
          <a:solidFill>
            <a:srgbClr val="F2F2F2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17" name="Shape 15"/>
          <p:cNvSpPr/>
          <p:nvPr/>
        </p:nvSpPr>
        <p:spPr>
          <a:xfrm>
            <a:off x="4206240" y="1417320"/>
            <a:ext cx="594360" cy="594360"/>
          </a:xfrm>
          <a:prstGeom prst="ellipse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18" name="Text 16"/>
          <p:cNvSpPr/>
          <p:nvPr/>
        </p:nvSpPr>
        <p:spPr>
          <a:xfrm>
            <a:off x="4206240" y="1417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822192" y="2148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</a:rPr>
              <a:t>Sprint 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22192" y="245059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Nutrient Matrix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40480" y="2926080"/>
            <a:ext cx="13258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 plot built, Sugar vs Protein , revealing the empty healthy quadrant.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0" y="1280160"/>
            <a:ext cx="1508760" cy="3474720"/>
          </a:xfrm>
          <a:prstGeom prst="rect">
            <a:avLst/>
          </a:prstGeom>
          <a:solidFill>
            <a:srgbClr val="F2F2F2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23" name="Shape 21"/>
          <p:cNvSpPr/>
          <p:nvPr/>
        </p:nvSpPr>
        <p:spPr>
          <a:xfrm>
            <a:off x="5943600" y="1417320"/>
            <a:ext cx="594360" cy="594360"/>
          </a:xfrm>
          <a:prstGeom prst="ellipse">
            <a:avLst/>
          </a:prstGeom>
          <a:solidFill>
            <a:srgbClr val="791F1F"/>
          </a:solidFill>
          <a:ln w="12700">
            <a:solidFill>
              <a:srgbClr val="791F1F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24" name="Text 22"/>
          <p:cNvSpPr/>
          <p:nvPr/>
        </p:nvSpPr>
        <p:spPr>
          <a:xfrm>
            <a:off x="5943600" y="1417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559552" y="2148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</a:rPr>
              <a:t>Sprint 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59552" y="245059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77840" y="2926080"/>
            <a:ext cx="13258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Index calculated. Top 3 opportunity categories identified. Key Insight generated.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23760" y="1280160"/>
            <a:ext cx="1508760" cy="3474720"/>
          </a:xfrm>
          <a:prstGeom prst="rect">
            <a:avLst/>
          </a:prstGeom>
          <a:solidFill>
            <a:srgbClr val="F2F2F2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29" name="Shape 27"/>
          <p:cNvSpPr/>
          <p:nvPr/>
        </p:nvSpPr>
        <p:spPr>
          <a:xfrm>
            <a:off x="7680960" y="1417320"/>
            <a:ext cx="594360" cy="594360"/>
          </a:xfrm>
          <a:prstGeom prst="ellipse">
            <a:avLst/>
          </a:prstGeom>
          <a:solidFill>
            <a:srgbClr val="533AB7"/>
          </a:solidFill>
          <a:ln w="12700">
            <a:solidFill>
              <a:srgbClr val="533AB7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30" name="Text 28"/>
          <p:cNvSpPr/>
          <p:nvPr/>
        </p:nvSpPr>
        <p:spPr>
          <a:xfrm>
            <a:off x="7680960" y="1417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296912" y="2148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</a:rPr>
              <a:t>Sprint 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96912" y="245059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Candidate's Choice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15200" y="2926080"/>
            <a:ext cx="13258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 Opportunity Index: Protein + Fiber + Sugar , revealing an even rarer market position.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 - The Market Gap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920240" cy="1463040"/>
          </a:xfrm>
          <a:prstGeom prst="rect">
            <a:avLst/>
          </a:prstGeom>
          <a:solidFill>
            <a:srgbClr val="F2F2F2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5" name="Text 3"/>
          <p:cNvSpPr/>
          <p:nvPr/>
        </p:nvSpPr>
        <p:spPr>
          <a:xfrm>
            <a:off x="274320" y="12801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F386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487K+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Products Analysed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22860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after cleaning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1188720"/>
            <a:ext cx="1920240" cy="1463040"/>
          </a:xfrm>
          <a:prstGeom prst="rect">
            <a:avLst/>
          </a:prstGeom>
          <a:solidFill>
            <a:srgbClr val="FCEBEB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9" name="Text 7"/>
          <p:cNvSpPr/>
          <p:nvPr/>
        </p:nvSpPr>
        <p:spPr>
          <a:xfrm>
            <a:off x="2423160" y="12801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791F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71.4%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42316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In Danger Zone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23160" y="22860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high sugar + low protein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1188720"/>
            <a:ext cx="1920240" cy="1463040"/>
          </a:xfrm>
          <a:prstGeom prst="rect">
            <a:avLst/>
          </a:prstGeom>
          <a:solidFill>
            <a:srgbClr val="EAF3DE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13" name="Text 11"/>
          <p:cNvSpPr/>
          <p:nvPr/>
        </p:nvSpPr>
        <p:spPr>
          <a:xfrm>
            <a:off x="4572000" y="12801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B6D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4.2%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7200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In Blue Ocean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22860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high protein + low sugar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20840" y="1188720"/>
            <a:ext cx="1920240" cy="1463040"/>
          </a:xfrm>
          <a:prstGeom prst="rect">
            <a:avLst/>
          </a:prstGeom>
          <a:solidFill>
            <a:srgbClr val="FCEBEB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17" name="Text 15"/>
          <p:cNvSpPr/>
          <p:nvPr/>
        </p:nvSpPr>
        <p:spPr>
          <a:xfrm>
            <a:off x="6720840" y="128016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791F1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72084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</a:rPr>
              <a:t>Top 3 Opportunity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20840" y="22860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categories in healthy zone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880360"/>
            <a:ext cx="8595360" cy="1051560"/>
          </a:xfrm>
          <a:prstGeom prst="rect">
            <a:avLst/>
          </a:prstGeom>
          <a:solidFill>
            <a:srgbClr val="EAF3DE"/>
          </a:solidFill>
          <a:ln w="12700">
            <a:solidFill>
              <a:srgbClr val="C0DD97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21" name="Shape 19"/>
          <p:cNvSpPr/>
          <p:nvPr/>
        </p:nvSpPr>
        <p:spPr>
          <a:xfrm>
            <a:off x="274320" y="2880360"/>
            <a:ext cx="109728" cy="105156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22" name="Text 20"/>
          <p:cNvSpPr/>
          <p:nvPr/>
        </p:nvSpPr>
        <p:spPr>
          <a:xfrm>
            <a:off x="502920" y="2926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3200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the data, the biggest market opportunities are in Ice Cream &amp; Frozen Snacks, Fruit Snacks, and Popcorn ,all with 0% of products in the high-protein, low-sugar quadrant. We recommend targeting products with &gt;= 15g protein and &lt; 8g sugar per 100g.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3 : The Nutrient Matrix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</a:rPr>
              <a:t>Sugar (X-axis) vs Protein (Y-axis) by Category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2560320" cy="1463040"/>
          </a:xfrm>
          <a:prstGeom prst="rect">
            <a:avLst/>
          </a:prstGeom>
          <a:solidFill>
            <a:srgbClr val="EAF3DE"/>
          </a:solidFill>
          <a:ln w="12700">
            <a:solidFill>
              <a:srgbClr val="C0DD97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ZONE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Protein + Low Sugar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Ocean - virtually empty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08960" y="1554480"/>
            <a:ext cx="2560320" cy="1463040"/>
          </a:xfrm>
          <a:prstGeom prst="rect">
            <a:avLst/>
          </a:prstGeom>
          <a:solidFill>
            <a:srgbClr val="F2F2F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9" name="Text 7"/>
          <p:cNvSpPr/>
          <p:nvPr/>
        </p:nvSpPr>
        <p:spPr>
          <a:xfrm>
            <a:off x="3200400" y="1645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GROUND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0" y="20574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Protein + High Sugar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healthy options exist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200400"/>
            <a:ext cx="2560320" cy="1463040"/>
          </a:xfrm>
          <a:prstGeom prst="rect">
            <a:avLst/>
          </a:prstGeom>
          <a:solidFill>
            <a:srgbClr val="F2F2F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12" name="Text 10"/>
          <p:cNvSpPr/>
          <p:nvPr/>
        </p:nvSpPr>
        <p:spPr>
          <a:xfrm>
            <a:off x="457200" y="3291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PROTEIN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7033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Protein + Low Sugar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consumer appeal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08960" y="3200400"/>
            <a:ext cx="2560320" cy="1463040"/>
          </a:xfrm>
          <a:prstGeom prst="rect">
            <a:avLst/>
          </a:prstGeom>
          <a:solidFill>
            <a:srgbClr val="FCEBEB"/>
          </a:solidFill>
          <a:ln w="12700">
            <a:solidFill>
              <a:srgbClr val="F7C1C1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15" name="Text 13"/>
          <p:cNvSpPr/>
          <p:nvPr/>
        </p:nvSpPr>
        <p:spPr>
          <a:xfrm>
            <a:off x="3200400" y="3291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9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 ZONE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0" y="37033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9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Sugar + Low Protein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9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Oversaturated — most products here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926080" y="1554480"/>
            <a:ext cx="0" cy="3108960"/>
          </a:xfrm>
          <a:prstGeom prst="line">
            <a:avLst/>
          </a:prstGeom>
          <a:noFill/>
          <a:ln w="25400">
            <a:solidFill>
              <a:srgbClr val="E63946"/>
            </a:solidFill>
            <a:prstDash val="dash"/>
          </a:ln>
        </p:spPr>
        <p:txBody>
          <a:bodyPr/>
          <a:lstStyle/>
          <a:p>
            <a:endParaRPr lang="en-GH"/>
          </a:p>
        </p:txBody>
      </p:sp>
      <p:sp>
        <p:nvSpPr>
          <p:cNvPr id="18" name="Shape 16"/>
          <p:cNvSpPr/>
          <p:nvPr/>
        </p:nvSpPr>
        <p:spPr>
          <a:xfrm>
            <a:off x="365760" y="3108960"/>
            <a:ext cx="5303520" cy="0"/>
          </a:xfrm>
          <a:prstGeom prst="line">
            <a:avLst/>
          </a:prstGeom>
          <a:noFill/>
          <a:ln w="25400">
            <a:solidFill>
              <a:srgbClr val="2A9D8F"/>
            </a:solidFill>
            <a:prstDash val="dash"/>
          </a:ln>
        </p:spPr>
        <p:txBody>
          <a:bodyPr/>
          <a:lstStyle/>
          <a:p>
            <a:endParaRPr lang="en-GH"/>
          </a:p>
        </p:txBody>
      </p:sp>
      <p:sp>
        <p:nvSpPr>
          <p:cNvPr id="19" name="Text 17"/>
          <p:cNvSpPr/>
          <p:nvPr/>
        </p:nvSpPr>
        <p:spPr>
          <a:xfrm>
            <a:off x="2743200" y="1417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15000" y="303580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9D8F"/>
                </a:solidFill>
              </a:rPr>
              <a:t>15g Protein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52160" y="1554480"/>
            <a:ext cx="30175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takeaway: less products are in the Target Zone. The dashboard scatter plot shows this visually  clusters concentrated in the Danger Zone.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4 :The Recommendation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</a:rPr>
              <a:t>Gap Index - % of Products Already in Healthy Zone (Lower = Bigger Opportunity)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463040"/>
          <a:ext cx="566928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126480" y="1508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OPPORTUNITIES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126480" y="1965960"/>
            <a:ext cx="2743200" cy="640080"/>
          </a:xfrm>
          <a:prstGeom prst="rect">
            <a:avLst/>
          </a:prstGeom>
          <a:solidFill>
            <a:srgbClr val="FCEBEB"/>
          </a:solidFill>
          <a:ln w="12700">
            <a:solidFill>
              <a:srgbClr val="F7C1C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8" name="Text 5"/>
          <p:cNvSpPr/>
          <p:nvPr/>
        </p:nvSpPr>
        <p:spPr>
          <a:xfrm>
            <a:off x="6217920" y="20116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3946"/>
                </a:solidFill>
              </a:rPr>
              <a:t>1.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537960" y="20116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01313"/>
                </a:solidFill>
              </a:rPr>
              <a:t>Ice Cream &amp; Frozen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537960" y="228600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1F1F"/>
                </a:solidFill>
              </a:rPr>
              <a:t>0.0% in healthy zone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126480" y="2743200"/>
            <a:ext cx="2743200" cy="640080"/>
          </a:xfrm>
          <a:prstGeom prst="rect">
            <a:avLst/>
          </a:prstGeom>
          <a:solidFill>
            <a:srgbClr val="FCEBEB"/>
          </a:solidFill>
          <a:ln w="12700">
            <a:solidFill>
              <a:srgbClr val="F7C1C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12" name="Text 9"/>
          <p:cNvSpPr/>
          <p:nvPr/>
        </p:nvSpPr>
        <p:spPr>
          <a:xfrm>
            <a:off x="6217920" y="27889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3946"/>
                </a:solidFill>
              </a:rPr>
              <a:t>2.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537960" y="2788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01313"/>
                </a:solidFill>
              </a:rPr>
              <a:t>Fruit Snacks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537960" y="306324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1F1F"/>
                </a:solidFill>
              </a:rPr>
              <a:t>0.0% in healthy zone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126480" y="3520440"/>
            <a:ext cx="2743200" cy="640080"/>
          </a:xfrm>
          <a:prstGeom prst="rect">
            <a:avLst/>
          </a:prstGeom>
          <a:solidFill>
            <a:srgbClr val="FCEBEB"/>
          </a:solidFill>
          <a:ln w="12700">
            <a:solidFill>
              <a:srgbClr val="F7C1C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16" name="Text 13"/>
          <p:cNvSpPr/>
          <p:nvPr/>
        </p:nvSpPr>
        <p:spPr>
          <a:xfrm>
            <a:off x="6217920" y="35661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3946"/>
                </a:solidFill>
              </a:rPr>
              <a:t>3.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537960" y="35661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01313"/>
                </a:solidFill>
              </a:rPr>
              <a:t>Popcorn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537960" y="38404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91F1F"/>
                </a:solidFill>
              </a:rPr>
              <a:t>0.0% in healthy zone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126480" y="4251960"/>
            <a:ext cx="2743200" cy="594360"/>
          </a:xfrm>
          <a:prstGeom prst="rect">
            <a:avLst/>
          </a:prstGeom>
          <a:solidFill>
            <a:srgbClr val="EAF3DE"/>
          </a:solidFill>
          <a:ln w="12700">
            <a:solidFill>
              <a:srgbClr val="C0DD97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20" name="Text 17"/>
          <p:cNvSpPr/>
          <p:nvPr/>
        </p:nvSpPr>
        <p:spPr>
          <a:xfrm>
            <a:off x="6217920" y="4279392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500A"/>
                </a:solidFill>
              </a:rPr>
              <a:t>R&amp;D Target: &gt;= 15g protein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7500A"/>
                </a:solidFill>
              </a:rPr>
              <a:t>and &lt; 8g sugar per 100g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5 : The Hidden Gem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</a:rPr>
              <a:t>Top Protein Sources in High-Protein Snacks (&gt;= 15g protein per 100g)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760720" y="1508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</a:rPr>
              <a:t>R&amp;D RECOMMENDATION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760720" y="1965960"/>
            <a:ext cx="3200400" cy="685800"/>
          </a:xfrm>
          <a:prstGeom prst="rect">
            <a:avLst/>
          </a:prstGeom>
          <a:solidFill>
            <a:srgbClr val="E1F5EE"/>
          </a:solidFill>
          <a:ln w="12700">
            <a:solidFill>
              <a:srgbClr val="9FE1C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8" name="Shape 5"/>
          <p:cNvSpPr/>
          <p:nvPr/>
        </p:nvSpPr>
        <p:spPr>
          <a:xfrm>
            <a:off x="5852160" y="2029968"/>
            <a:ext cx="457200" cy="457200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9" name="Text 6"/>
          <p:cNvSpPr/>
          <p:nvPr/>
        </p:nvSpPr>
        <p:spPr>
          <a:xfrm>
            <a:off x="5852160" y="2029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0" y="2057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6E56"/>
                </a:solidFill>
              </a:rPr>
              <a:t>Soy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0" y="2331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8,420 products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760720" y="2788920"/>
            <a:ext cx="3200400" cy="685800"/>
          </a:xfrm>
          <a:prstGeom prst="rect">
            <a:avLst/>
          </a:prstGeom>
          <a:solidFill>
            <a:srgbClr val="E1F5EE"/>
          </a:solidFill>
          <a:ln w="12700">
            <a:solidFill>
              <a:srgbClr val="9FE1C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13" name="Shape 10"/>
          <p:cNvSpPr/>
          <p:nvPr/>
        </p:nvSpPr>
        <p:spPr>
          <a:xfrm>
            <a:off x="5852160" y="2852928"/>
            <a:ext cx="457200" cy="45720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14" name="Text 11"/>
          <p:cNvSpPr/>
          <p:nvPr/>
        </p:nvSpPr>
        <p:spPr>
          <a:xfrm>
            <a:off x="5852160" y="2852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400800" y="2880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9E75"/>
                </a:solidFill>
              </a:rPr>
              <a:t>Peanut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00800" y="31546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7,010 products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760720" y="3611880"/>
            <a:ext cx="3200400" cy="685800"/>
          </a:xfrm>
          <a:prstGeom prst="rect">
            <a:avLst/>
          </a:prstGeom>
          <a:solidFill>
            <a:srgbClr val="E1F5EE"/>
          </a:solidFill>
          <a:ln w="12700">
            <a:solidFill>
              <a:srgbClr val="9FE1C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H"/>
          </a:p>
        </p:txBody>
      </p:sp>
      <p:sp>
        <p:nvSpPr>
          <p:cNvPr id="18" name="Shape 15"/>
          <p:cNvSpPr/>
          <p:nvPr/>
        </p:nvSpPr>
        <p:spPr>
          <a:xfrm>
            <a:off x="5852160" y="3675888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19" name="Text 16"/>
          <p:cNvSpPr/>
          <p:nvPr/>
        </p:nvSpPr>
        <p:spPr>
          <a:xfrm>
            <a:off x="5852160" y="3675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00800" y="3703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9D8F"/>
                </a:solidFill>
              </a:rPr>
              <a:t>Oat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400800" y="39776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5,940 products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760720" y="4434840"/>
            <a:ext cx="3200400" cy="502920"/>
          </a:xfrm>
          <a:prstGeom prst="rect">
            <a:avLst/>
          </a:prstGeom>
          <a:solidFill>
            <a:srgbClr val="EAF3DE"/>
          </a:solidFill>
          <a:ln w="12700">
            <a:solidFill>
              <a:srgbClr val="C0DD97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23" name="Text 20"/>
          <p:cNvSpPr/>
          <p:nvPr/>
        </p:nvSpPr>
        <p:spPr>
          <a:xfrm>
            <a:off x="5852160" y="446227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500A"/>
                </a:solidFill>
              </a:rPr>
              <a:t>Use soy , Peanut, or Soat as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27500A"/>
                </a:solidFill>
              </a:rPr>
              <a:t>primary protein sources in new products</a:t>
            </a:r>
            <a:endParaRPr lang="en-US" sz="11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8A1EF53-5533-ACBC-8D49-9BA70C96C7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736658"/>
            <a:ext cx="5097780" cy="301822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6 : Candidate's Choice: Triple Opportunity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</a:rPr>
              <a:t>What I Added: Triple Opportunity Index -High Protein + High Fiber + Low Sugar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463040"/>
          <a:ext cx="53035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760720" y="1508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</a:rPr>
              <a:t>WHY I ADDED THIS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760720" y="1920240"/>
            <a:ext cx="3200400" cy="2560320"/>
          </a:xfrm>
          <a:prstGeom prst="rect">
            <a:avLst/>
          </a:prstGeom>
          <a:solidFill>
            <a:srgbClr val="E6F1FB"/>
          </a:solidFill>
          <a:ln w="12700">
            <a:solidFill>
              <a:srgbClr val="B5D4F4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8" name="Text 5"/>
          <p:cNvSpPr/>
          <p:nvPr/>
        </p:nvSpPr>
        <p:spPr>
          <a:xfrm>
            <a:off x="5852160" y="20116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brief mentions High Protein AND High Fiber ,but Stories 3 &amp; 4 only measure sugar vs protein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852160" y="26060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triple-claim product commands a premium price point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52160" y="32004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Meets EU criteria for both high protein AND high fiber front-of-pack claims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852160" y="37947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</a:t>
            </a: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Reveals an even rarer market position  harder for competitors to copy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760720" y="4663440"/>
            <a:ext cx="3200400" cy="274320"/>
          </a:xfrm>
          <a:prstGeom prst="rect">
            <a:avLst/>
          </a:prstGeom>
          <a:solidFill>
            <a:srgbClr val="EAF3DE"/>
          </a:solidFill>
          <a:ln w="12700">
            <a:solidFill>
              <a:srgbClr val="C0DD97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13" name="Text 10"/>
          <p:cNvSpPr/>
          <p:nvPr/>
        </p:nvSpPr>
        <p:spPr>
          <a:xfrm>
            <a:off x="5806440" y="468172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500A"/>
                </a:solidFill>
              </a:rPr>
              <a:t>Criteria: &gt;= 15g protein | &lt;= 10g sugar | &gt;= 5g fiber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3" name="Text 1"/>
          <p:cNvSpPr/>
          <p:nvPr/>
        </p:nvSpPr>
        <p:spPr>
          <a:xfrm>
            <a:off x="320040" y="36576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Recommendation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8503920" cy="12801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5" name="Text 3"/>
          <p:cNvSpPr/>
          <p:nvPr/>
        </p:nvSpPr>
        <p:spPr>
          <a:xfrm>
            <a:off x="502920" y="1188720"/>
            <a:ext cx="8138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the data, the biggest market opportunity is in </a:t>
            </a:r>
            <a:r>
              <a:rPr lang="en-US" sz="15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 Cream &amp; Frozen Snacks, Fruit Snacks, and Popcorn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,specifically targeting products with </a:t>
            </a:r>
            <a:r>
              <a:rPr lang="en-US" sz="15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&gt;= 15g of protein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less than </a:t>
            </a:r>
            <a:r>
              <a:rPr lang="en-US" sz="15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8g of sugar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 100g.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2606040"/>
            <a:ext cx="8503920" cy="502920"/>
          </a:xfrm>
          <a:prstGeom prst="rect">
            <a:avLst/>
          </a:prstGeom>
          <a:solidFill>
            <a:srgbClr val="16284F"/>
          </a:solidFill>
          <a:ln w="12700">
            <a:solidFill>
              <a:srgbClr val="1F3D6E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7" name="Shape 5"/>
          <p:cNvSpPr/>
          <p:nvPr/>
        </p:nvSpPr>
        <p:spPr>
          <a:xfrm>
            <a:off x="320040" y="2606040"/>
            <a:ext cx="1280160" cy="502920"/>
          </a:xfrm>
          <a:prstGeom prst="rect">
            <a:avLst/>
          </a:prstGeom>
          <a:solidFill>
            <a:srgbClr val="253F70"/>
          </a:solidFill>
          <a:ln w="12700">
            <a:solidFill>
              <a:srgbClr val="1F3D6E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8" name="Text 6"/>
          <p:cNvSpPr/>
          <p:nvPr/>
        </p:nvSpPr>
        <p:spPr>
          <a:xfrm>
            <a:off x="320040" y="26060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C46A"/>
                </a:solidFill>
              </a:rPr>
              <a:t>71.4%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737360" y="262432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snacks are in the Danger Zone - oversaturated market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3182112"/>
            <a:ext cx="8503920" cy="502920"/>
          </a:xfrm>
          <a:prstGeom prst="rect">
            <a:avLst/>
          </a:prstGeom>
          <a:solidFill>
            <a:srgbClr val="16284F"/>
          </a:solidFill>
          <a:ln w="12700">
            <a:solidFill>
              <a:srgbClr val="1F3D6E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11" name="Shape 9"/>
          <p:cNvSpPr/>
          <p:nvPr/>
        </p:nvSpPr>
        <p:spPr>
          <a:xfrm>
            <a:off x="320040" y="3182112"/>
            <a:ext cx="1280160" cy="502920"/>
          </a:xfrm>
          <a:prstGeom prst="rect">
            <a:avLst/>
          </a:prstGeom>
          <a:solidFill>
            <a:srgbClr val="253F70"/>
          </a:solidFill>
          <a:ln w="12700">
            <a:solidFill>
              <a:srgbClr val="1F3D6E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12" name="Text 10"/>
          <p:cNvSpPr/>
          <p:nvPr/>
        </p:nvSpPr>
        <p:spPr>
          <a:xfrm>
            <a:off x="320040" y="3182112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C46A"/>
                </a:solidFill>
              </a:rPr>
              <a:t>4.2%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737360" y="32004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products occupy the healthy quadrant -Blue Ocean confirmed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3758184"/>
            <a:ext cx="8503920" cy="502920"/>
          </a:xfrm>
          <a:prstGeom prst="rect">
            <a:avLst/>
          </a:prstGeom>
          <a:solidFill>
            <a:srgbClr val="16284F"/>
          </a:solidFill>
          <a:ln w="12700">
            <a:solidFill>
              <a:srgbClr val="1F3D6E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15" name="Shape 13"/>
          <p:cNvSpPr/>
          <p:nvPr/>
        </p:nvSpPr>
        <p:spPr>
          <a:xfrm>
            <a:off x="320040" y="3758184"/>
            <a:ext cx="1280160" cy="502920"/>
          </a:xfrm>
          <a:prstGeom prst="rect">
            <a:avLst/>
          </a:prstGeom>
          <a:solidFill>
            <a:srgbClr val="253F70"/>
          </a:solidFill>
          <a:ln w="12700">
            <a:solidFill>
              <a:srgbClr val="1F3D6E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16" name="Text 14"/>
          <p:cNvSpPr/>
          <p:nvPr/>
        </p:nvSpPr>
        <p:spPr>
          <a:xfrm>
            <a:off x="320040" y="3758184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C46A"/>
                </a:solidFill>
              </a:rPr>
              <a:t>0%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37360" y="377647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Ice Cream, Fruit Snacks, Popcorn products meet healthy criteria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" y="4334256"/>
            <a:ext cx="8503920" cy="502920"/>
          </a:xfrm>
          <a:prstGeom prst="rect">
            <a:avLst/>
          </a:prstGeom>
          <a:solidFill>
            <a:srgbClr val="16284F"/>
          </a:solidFill>
          <a:ln w="12700">
            <a:solidFill>
              <a:srgbClr val="1F3D6E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19" name="Shape 17"/>
          <p:cNvSpPr/>
          <p:nvPr/>
        </p:nvSpPr>
        <p:spPr>
          <a:xfrm>
            <a:off x="320040" y="4334256"/>
            <a:ext cx="1280160" cy="502920"/>
          </a:xfrm>
          <a:prstGeom prst="rect">
            <a:avLst/>
          </a:prstGeom>
          <a:solidFill>
            <a:srgbClr val="253F70"/>
          </a:solidFill>
          <a:ln w="12700">
            <a:solidFill>
              <a:srgbClr val="1F3D6E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20" name="Text 18"/>
          <p:cNvSpPr/>
          <p:nvPr/>
        </p:nvSpPr>
        <p:spPr>
          <a:xfrm>
            <a:off x="320040" y="4334256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C46A"/>
                </a:solidFill>
              </a:rPr>
              <a:t>Soy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737360" y="4352544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Peanut, Oat, top 3 protein sources for R&amp;D formulation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2f70ad68-4eca-4ffe-ad9d-60bfae449e23}" enabled="1" method="Standard" siteId="{b20a8f4d-0d6a-4f2e-83a2-181c968f888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700</Words>
  <Application>Microsoft Office PowerPoint</Application>
  <PresentationFormat>On-screen Show (16:9)</PresentationFormat>
  <Paragraphs>120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Arial Black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Sugar Trap — Market Gap Analysis</dc:title>
  <dc:subject>PptxGenJS Presentation</dc:subject>
  <dc:creator>PptxGenJS</dc:creator>
  <cp:lastModifiedBy>Angela Tenkorang</cp:lastModifiedBy>
  <cp:revision>2</cp:revision>
  <dcterms:created xsi:type="dcterms:W3CDTF">2026-04-27T09:06:00Z</dcterms:created>
  <dcterms:modified xsi:type="dcterms:W3CDTF">2026-04-27T09:37:18Z</dcterms:modified>
</cp:coreProperties>
</file>