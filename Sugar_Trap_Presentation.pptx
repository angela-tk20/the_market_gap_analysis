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Tenkorang" userId="a40b4ec4-8edb-4146-96fa-bcd28e8b0fac" providerId="ADAL" clId="{2E99353F-591A-498E-A5C3-B5ECD380E5CD}"/>
    <pc:docChg chg="modSld">
      <pc:chgData name="Angela Tenkorang" userId="a40b4ec4-8edb-4146-96fa-bcd28e8b0fac" providerId="ADAL" clId="{2E99353F-591A-498E-A5C3-B5ECD380E5CD}" dt="2026-04-27T11:43:43.246" v="2" actId="20577"/>
      <pc:docMkLst>
        <pc:docMk/>
      </pc:docMkLst>
      <pc:sldChg chg="modSp mod">
        <pc:chgData name="Angela Tenkorang" userId="a40b4ec4-8edb-4146-96fa-bcd28e8b0fac" providerId="ADAL" clId="{2E99353F-591A-498E-A5C3-B5ECD380E5CD}" dt="2026-04-27T11:43:43.246" v="2" actId="20577"/>
        <pc:sldMkLst>
          <pc:docMk/>
          <pc:sldMk cId="0" sldId="258"/>
        </pc:sldMkLst>
        <pc:spChg chg="mod">
          <ac:chgData name="Angela Tenkorang" userId="a40b4ec4-8edb-4146-96fa-bcd28e8b0fac" providerId="ADAL" clId="{2E99353F-591A-498E-A5C3-B5ECD380E5CD}" dt="2026-04-27T11:43:43.246" v="2" actId="20577"/>
          <ac:spMkLst>
            <pc:docMk/>
            <pc:sldMk cId="0" sldId="258"/>
            <ac:spMk id="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in Healthy Zone</c:v>
                </c:pt>
              </c:strCache>
            </c:strRef>
          </c:tx>
          <c:spPr>
            <a:solidFill>
              <a:srgbClr val="0F6E5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755-4DF1-9830-F7B226CC67EF}"/>
              </c:ext>
            </c:extLst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755-4DF1-9830-F7B226CC67EF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755-4DF1-9830-F7B226CC67EF}"/>
              </c:ext>
            </c:extLst>
          </c:dPt>
          <c:dPt>
            <c:idx val="3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755-4DF1-9830-F7B226CC67EF}"/>
              </c:ext>
            </c:extLst>
          </c:dPt>
          <c:dPt>
            <c:idx val="4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755-4DF1-9830-F7B226CC67EF}"/>
              </c:ext>
            </c:extLst>
          </c:dPt>
          <c:dPt>
            <c:idx val="5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755-4DF1-9830-F7B226CC67EF}"/>
              </c:ext>
            </c:extLst>
          </c:dPt>
          <c:dPt>
            <c:idx val="6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755-4DF1-9830-F7B226CC67EF}"/>
              </c:ext>
            </c:extLst>
          </c:dPt>
          <c:dPt>
            <c:idx val="7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755-4DF1-9830-F7B226CC67EF}"/>
              </c:ext>
            </c:extLst>
          </c:dPt>
          <c:dPt>
            <c:idx val="8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755-4DF1-9830-F7B226CC67EF}"/>
              </c:ext>
            </c:extLst>
          </c:dPt>
          <c:dPt>
            <c:idx val="9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755-4DF1-9830-F7B226CC67EF}"/>
              </c:ext>
            </c:extLst>
          </c:dPt>
          <c:dPt>
            <c:idx val="10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A755-4DF1-9830-F7B226CC67EF}"/>
              </c:ext>
            </c:extLst>
          </c:dPt>
          <c:dPt>
            <c:idx val="11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A755-4DF1-9830-F7B226CC67EF}"/>
              </c:ext>
            </c:extLst>
          </c:dPt>
          <c:dPt>
            <c:idx val="12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9-A755-4DF1-9830-F7B226CC67EF}"/>
              </c:ext>
            </c:extLst>
          </c:dPt>
          <c:dPt>
            <c:idx val="13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A755-4DF1-9830-F7B226CC67EF}"/>
              </c:ext>
            </c:extLst>
          </c:dPt>
          <c:dPt>
            <c:idx val="14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D-A755-4DF1-9830-F7B226CC67E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G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Protein Bars</c:v>
                </c:pt>
                <c:pt idx="1">
                  <c:v>Meat &amp; Fish Snacks</c:v>
                </c:pt>
                <c:pt idx="2">
                  <c:v>Cheese Snacks</c:v>
                </c:pt>
                <c:pt idx="3">
                  <c:v>Other Snacks</c:v>
                </c:pt>
                <c:pt idx="4">
                  <c:v>Cakes &amp; Pastries</c:v>
                </c:pt>
                <c:pt idx="5">
                  <c:v>Granola &amp; Cereals</c:v>
                </c:pt>
                <c:pt idx="6">
                  <c:v>Sweet Spreads</c:v>
                </c:pt>
                <c:pt idx="7">
                  <c:v>Chocolate &amp; Candy</c:v>
                </c:pt>
                <c:pt idx="8">
                  <c:v>Chips &amp; Crisps</c:v>
                </c:pt>
                <c:pt idx="9">
                  <c:v>Crackers</c:v>
                </c:pt>
                <c:pt idx="10">
                  <c:v>Yogurt &amp; Dairy</c:v>
                </c:pt>
                <c:pt idx="11">
                  <c:v>Biscuits &amp; Cookies</c:v>
                </c:pt>
                <c:pt idx="12">
                  <c:v>Popcorn</c:v>
                </c:pt>
                <c:pt idx="13">
                  <c:v>Fruit Snacks</c:v>
                </c:pt>
                <c:pt idx="14">
                  <c:v>Ice Cream &amp; Frozen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70.599999999999994</c:v>
                </c:pt>
                <c:pt idx="1">
                  <c:v>51.9</c:v>
                </c:pt>
                <c:pt idx="2">
                  <c:v>50</c:v>
                </c:pt>
                <c:pt idx="3">
                  <c:v>12.7</c:v>
                </c:pt>
                <c:pt idx="4">
                  <c:v>9.5</c:v>
                </c:pt>
                <c:pt idx="5">
                  <c:v>2.9</c:v>
                </c:pt>
                <c:pt idx="6">
                  <c:v>2.6</c:v>
                </c:pt>
                <c:pt idx="7">
                  <c:v>2</c:v>
                </c:pt>
                <c:pt idx="8">
                  <c:v>1.9</c:v>
                </c:pt>
                <c:pt idx="9">
                  <c:v>1.8</c:v>
                </c:pt>
                <c:pt idx="10">
                  <c:v>1.5</c:v>
                </c:pt>
                <c:pt idx="11">
                  <c:v>1.1000000000000001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A755-4DF1-9830-F7B226CC67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Triple Zone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5CD-44DC-91B0-5099BD173D9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5CD-44DC-91B0-5099BD173D9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5CD-44DC-91B0-5099BD173D9E}"/>
              </c:ext>
            </c:extLst>
          </c:dPt>
          <c:dPt>
            <c:idx val="3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CD-44DC-91B0-5099BD173D9E}"/>
              </c:ext>
            </c:extLst>
          </c:dPt>
          <c:dPt>
            <c:idx val="4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5CD-44DC-91B0-5099BD173D9E}"/>
              </c:ext>
            </c:extLst>
          </c:dPt>
          <c:dPt>
            <c:idx val="5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5CD-44DC-91B0-5099BD173D9E}"/>
              </c:ext>
            </c:extLst>
          </c:dPt>
          <c:dPt>
            <c:idx val="6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C5CD-44DC-91B0-5099BD173D9E}"/>
              </c:ext>
            </c:extLst>
          </c:dPt>
          <c:dPt>
            <c:idx val="7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C5CD-44DC-91B0-5099BD173D9E}"/>
              </c:ext>
            </c:extLst>
          </c:dPt>
          <c:dPt>
            <c:idx val="8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C5CD-44DC-91B0-5099BD173D9E}"/>
              </c:ext>
            </c:extLst>
          </c:dPt>
          <c:dPt>
            <c:idx val="9"/>
            <c:invertIfNegative val="0"/>
            <c:bubble3D val="0"/>
            <c:spPr>
              <a:solidFill>
                <a:srgbClr val="0F6E5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C5CD-44DC-91B0-5099BD173D9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G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Biscuits &amp; Cookies</c:v>
                </c:pt>
                <c:pt idx="1">
                  <c:v>Fruit Snacks</c:v>
                </c:pt>
                <c:pt idx="2">
                  <c:v>Ice Cream &amp; Frozen</c:v>
                </c:pt>
                <c:pt idx="3">
                  <c:v>Chocolate &amp; Candy</c:v>
                </c:pt>
                <c:pt idx="4">
                  <c:v>Chips &amp; Crisps</c:v>
                </c:pt>
                <c:pt idx="5">
                  <c:v>Granola &amp; Cereals</c:v>
                </c:pt>
                <c:pt idx="6">
                  <c:v>Cakes &amp; Pastries</c:v>
                </c:pt>
                <c:pt idx="7">
                  <c:v>Nuts &amp; Seeds</c:v>
                </c:pt>
                <c:pt idx="8">
                  <c:v>Meat &amp; Fish Snacks</c:v>
                </c:pt>
                <c:pt idx="9">
                  <c:v>Protein Bars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0.5</c:v>
                </c:pt>
                <c:pt idx="4">
                  <c:v>1</c:v>
                </c:pt>
                <c:pt idx="5">
                  <c:v>2.5</c:v>
                </c:pt>
                <c:pt idx="6">
                  <c:v>4</c:v>
                </c:pt>
                <c:pt idx="7">
                  <c:v>15</c:v>
                </c:pt>
                <c:pt idx="8">
                  <c:v>30</c:v>
                </c:pt>
                <c:pt idx="9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5CD-44DC-91B0-5099BD173D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269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16284F"/>
          </a:solidFill>
          <a:ln w="12700">
            <a:solidFill>
              <a:srgbClr val="16284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SUGAR TRAP</a:t>
            </a:r>
            <a:endParaRPr lang="en-US" sz="520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i="1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Analysis</a:t>
            </a:r>
            <a:endParaRPr lang="en-US" sz="2600"/>
          </a:p>
        </p:txBody>
      </p:sp>
      <p:sp>
        <p:nvSpPr>
          <p:cNvPr id="6" name="Text 4"/>
          <p:cNvSpPr/>
          <p:nvPr/>
        </p:nvSpPr>
        <p:spPr>
          <a:xfrm>
            <a:off x="274320" y="21488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7B9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Blue Ocean in the Snack Aisle?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274320" y="36576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Client: 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Helix CPG Partners</a:t>
            </a:r>
            <a:r>
              <a:rPr lang="en-US" sz="1200" dirty="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r>
              <a:rPr lang="en-US" sz="1200" b="1" dirty="0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Food Facts</a:t>
            </a:r>
            <a:r>
              <a:rPr lang="en-US" sz="1200" dirty="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Products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Angela Tenkorang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Question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r>
              <a:rPr lang="en-US" sz="2000" b="1" i="1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is the Blue Ocean in the snack aisle?</a:t>
            </a:r>
            <a:r>
              <a:rPr lang="en-US" sz="4000" b="1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000"/>
          </a:p>
        </p:txBody>
      </p:sp>
      <p:sp>
        <p:nvSpPr>
          <p:cNvPr id="6" name="Shape 4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7" name="Shape 5"/>
          <p:cNvSpPr/>
          <p:nvPr/>
        </p:nvSpPr>
        <p:spPr>
          <a:xfrm>
            <a:off x="36576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36576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The Client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47548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snack manufacturer wants to launch a Healthy Snacking product line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20040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320040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320040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The Problem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331012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oversaturated with sugary treats , but they lack data to prove where the gaps are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03504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5" name="Shape 13"/>
          <p:cNvSpPr/>
          <p:nvPr/>
        </p:nvSpPr>
        <p:spPr>
          <a:xfrm>
            <a:off x="603504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603504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Our Mission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614476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Open Food Facts (500k products) to identify where healthy demand is unmet by current supply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Methodology -5 Sprints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94360" cy="59436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1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34747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1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34747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36576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 rows loaded. Nulls removed. Impossible values filtered. Duplicates dropped.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201168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2468880" y="1417320"/>
            <a:ext cx="594360" cy="594360"/>
          </a:xfrm>
          <a:prstGeom prst="ellipse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08483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2</a:t>
            </a:r>
            <a:endParaRPr lang="en-US" sz="1100"/>
          </a:p>
        </p:txBody>
      </p:sp>
      <p:sp>
        <p:nvSpPr>
          <p:cNvPr id="14" name="Text 12"/>
          <p:cNvSpPr/>
          <p:nvPr/>
        </p:nvSpPr>
        <p:spPr>
          <a:xfrm>
            <a:off x="208483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Wrangling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210312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clean category buckets created from 10,000 messy raw tags.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374904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7" name="Shape 15"/>
          <p:cNvSpPr/>
          <p:nvPr/>
        </p:nvSpPr>
        <p:spPr>
          <a:xfrm>
            <a:off x="4206240" y="1417320"/>
            <a:ext cx="594360" cy="594360"/>
          </a:xfrm>
          <a:prstGeom prst="ellipse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420624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3</a:t>
            </a:r>
            <a:endParaRPr lang="en-US" sz="2000"/>
          </a:p>
        </p:txBody>
      </p:sp>
      <p:sp>
        <p:nvSpPr>
          <p:cNvPr id="19" name="Text 17"/>
          <p:cNvSpPr/>
          <p:nvPr/>
        </p:nvSpPr>
        <p:spPr>
          <a:xfrm>
            <a:off x="382219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3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382219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 Matrix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384048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 plot built, Sugar vs Protein , revealing the empty healthy quadrant.</a:t>
            </a:r>
            <a:endParaRPr lang="en-US" sz="1000"/>
          </a:p>
        </p:txBody>
      </p:sp>
      <p:sp>
        <p:nvSpPr>
          <p:cNvPr id="22" name="Shape 20"/>
          <p:cNvSpPr/>
          <p:nvPr/>
        </p:nvSpPr>
        <p:spPr>
          <a:xfrm>
            <a:off x="548640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3" name="Shape 21"/>
          <p:cNvSpPr/>
          <p:nvPr/>
        </p:nvSpPr>
        <p:spPr>
          <a:xfrm>
            <a:off x="5943600" y="1417320"/>
            <a:ext cx="594360" cy="594360"/>
          </a:xfrm>
          <a:prstGeom prst="ellipse">
            <a:avLst/>
          </a:prstGeom>
          <a:solidFill>
            <a:srgbClr val="791F1F"/>
          </a:solidFill>
          <a:ln w="12700">
            <a:solidFill>
              <a:srgbClr val="791F1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Text 22"/>
          <p:cNvSpPr/>
          <p:nvPr/>
        </p:nvSpPr>
        <p:spPr>
          <a:xfrm>
            <a:off x="594360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4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555955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4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555955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557784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Index calculated. Top 3 opportunity categories identified. Key Insight generated.</a:t>
            </a:r>
            <a:endParaRPr lang="en-US" sz="1000"/>
          </a:p>
        </p:txBody>
      </p:sp>
      <p:sp>
        <p:nvSpPr>
          <p:cNvPr id="28" name="Shape 26"/>
          <p:cNvSpPr/>
          <p:nvPr/>
        </p:nvSpPr>
        <p:spPr>
          <a:xfrm>
            <a:off x="722376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9" name="Shape 27"/>
          <p:cNvSpPr/>
          <p:nvPr/>
        </p:nvSpPr>
        <p:spPr>
          <a:xfrm>
            <a:off x="7680960" y="1417320"/>
            <a:ext cx="594360" cy="594360"/>
          </a:xfrm>
          <a:prstGeom prst="ellipse">
            <a:avLst/>
          </a:prstGeom>
          <a:solidFill>
            <a:srgbClr val="533AB7"/>
          </a:solidFill>
          <a:ln w="12700">
            <a:solidFill>
              <a:srgbClr val="533AB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0" name="Text 28"/>
          <p:cNvSpPr/>
          <p:nvPr/>
        </p:nvSpPr>
        <p:spPr>
          <a:xfrm>
            <a:off x="768096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5</a:t>
            </a:r>
            <a:endParaRPr lang="en-US" sz="2000"/>
          </a:p>
        </p:txBody>
      </p:sp>
      <p:sp>
        <p:nvSpPr>
          <p:cNvPr id="31" name="Text 29"/>
          <p:cNvSpPr/>
          <p:nvPr/>
        </p:nvSpPr>
        <p:spPr>
          <a:xfrm>
            <a:off x="729691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5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729691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Candidate's Choice</a:t>
            </a:r>
            <a:endParaRPr lang="en-US" sz="1300"/>
          </a:p>
        </p:txBody>
      </p:sp>
      <p:sp>
        <p:nvSpPr>
          <p:cNvPr id="33" name="Text 31"/>
          <p:cNvSpPr/>
          <p:nvPr/>
        </p:nvSpPr>
        <p:spPr>
          <a:xfrm>
            <a:off x="731520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Opportunity Index: Protein + Fiber + Sugar , revealing an even rarer market position.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 - The Market Gap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92024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27432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1F38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487K+</a:t>
            </a:r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Products Analysed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27432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after cleaning</a:t>
            </a:r>
            <a:endParaRPr lang="en-US" sz="100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192024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9" name="Text 7"/>
          <p:cNvSpPr/>
          <p:nvPr/>
        </p:nvSpPr>
        <p:spPr>
          <a:xfrm>
            <a:off x="242316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791F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71.4%</a:t>
            </a:r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242316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In Danger Zone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242316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high sugar + low protein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4572000" y="1188720"/>
            <a:ext cx="1920240" cy="1463040"/>
          </a:xfrm>
          <a:prstGeom prst="rect">
            <a:avLst/>
          </a:prstGeom>
          <a:solidFill>
            <a:srgbClr val="EAF3D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3" name="Text 11"/>
          <p:cNvSpPr/>
          <p:nvPr/>
        </p:nvSpPr>
        <p:spPr>
          <a:xfrm>
            <a:off x="457200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B6D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4.2%</a:t>
            </a:r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457200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In Blue Ocean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457200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high protein + low sugar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6720840" y="1188720"/>
            <a:ext cx="192024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672084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791F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0%</a:t>
            </a:r>
            <a:endParaRPr lang="en-US" sz="3200"/>
          </a:p>
        </p:txBody>
      </p:sp>
      <p:sp>
        <p:nvSpPr>
          <p:cNvPr id="18" name="Text 16"/>
          <p:cNvSpPr/>
          <p:nvPr/>
        </p:nvSpPr>
        <p:spPr>
          <a:xfrm>
            <a:off x="672084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Top 3 Opportunity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672084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categories in healthy zone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8595360" cy="105156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1" name="Shape 19"/>
          <p:cNvSpPr/>
          <p:nvPr/>
        </p:nvSpPr>
        <p:spPr>
          <a:xfrm>
            <a:off x="274320" y="2880360"/>
            <a:ext cx="109728" cy="1051560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50292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3B6D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502920" y="3200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data, the biggest market opportunities are in Ice Cream &amp; Frozen Snacks, Fruit Snacks, and Popcorn ,all with 0% of products in the high-protein, low-sugar quadrant. We recommend targeting products with &gt;= 15g protein and &lt; 8g sugar per 100g.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3 : The Nutrient Matrix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4748B"/>
                </a:solidFill>
              </a:rPr>
              <a:t>Sugar (X-axis) vs Protein (Y-axis) by Category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560320" cy="146304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B6D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ZONE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Protein + Low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Ocean - virtually empty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108960" y="1554480"/>
            <a:ext cx="256032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Text 7"/>
          <p:cNvSpPr/>
          <p:nvPr/>
        </p:nvSpPr>
        <p:spPr>
          <a:xfrm>
            <a:off x="32004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GROUND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320040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Protein + High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healthy options exist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256032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PROTEIN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Protein + Low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consumer appeal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3108960" y="3200400"/>
            <a:ext cx="256032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32004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 ZONE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3200400" y="3703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Sugar + Low Protein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Oversaturated — most products here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926080" y="1554480"/>
            <a:ext cx="0" cy="3108960"/>
          </a:xfrm>
          <a:prstGeom prst="line">
            <a:avLst/>
          </a:prstGeom>
          <a:noFill/>
          <a:ln w="25400">
            <a:solidFill>
              <a:srgbClr val="E63946"/>
            </a:solidFill>
            <a:prstDash val="dash"/>
          </a:ln>
        </p:spPr>
        <p:txBody>
          <a:bodyPr/>
          <a:lstStyle/>
          <a:p>
            <a:endParaRPr lang="en-GH"/>
          </a:p>
        </p:txBody>
      </p:sp>
      <p:sp>
        <p:nvSpPr>
          <p:cNvPr id="18" name="Shape 16"/>
          <p:cNvSpPr/>
          <p:nvPr/>
        </p:nvSpPr>
        <p:spPr>
          <a:xfrm>
            <a:off x="365760" y="3108960"/>
            <a:ext cx="530352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  <p:txBody>
          <a:bodyPr/>
          <a:lstStyle/>
          <a:p>
            <a:endParaRPr lang="en-GH"/>
          </a:p>
        </p:txBody>
      </p:sp>
      <p:sp>
        <p:nvSpPr>
          <p:cNvPr id="19" name="Text 17"/>
          <p:cNvSpPr/>
          <p:nvPr/>
        </p:nvSpPr>
        <p:spPr>
          <a:xfrm>
            <a:off x="2743200" y="1417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/>
          </a:p>
        </p:txBody>
      </p:sp>
      <p:sp>
        <p:nvSpPr>
          <p:cNvPr id="20" name="Text 18"/>
          <p:cNvSpPr/>
          <p:nvPr/>
        </p:nvSpPr>
        <p:spPr>
          <a:xfrm>
            <a:off x="5715000" y="30358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A9D8F"/>
                </a:solidFill>
              </a:rPr>
              <a:t>15g Protein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5852160" y="155448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takeaway: less products are in the Target Zone. The dashboard scatter plot shows this visually  clusters concentrated in the Danger Zone.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4 :The Recommendation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Gap Index - % of Products Already in Healthy Zone (Lower = Bigger Opportunity)</a:t>
            </a:r>
            <a:endParaRPr lang="en-US" sz="13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463040"/>
          <a:ext cx="566928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126480" y="1508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OPPORTUNITIES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6126480" y="196596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8" name="Text 5"/>
          <p:cNvSpPr/>
          <p:nvPr/>
        </p:nvSpPr>
        <p:spPr>
          <a:xfrm>
            <a:off x="6217920" y="20116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1.</a:t>
            </a:r>
            <a:endParaRPr lang="en-US" sz="1600"/>
          </a:p>
        </p:txBody>
      </p:sp>
      <p:sp>
        <p:nvSpPr>
          <p:cNvPr id="9" name="Text 6"/>
          <p:cNvSpPr/>
          <p:nvPr/>
        </p:nvSpPr>
        <p:spPr>
          <a:xfrm>
            <a:off x="6537960" y="2011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Ice Cream &amp; Frozen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>
          <a:xfrm>
            <a:off x="6537960" y="22860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2" name="Text 9"/>
          <p:cNvSpPr/>
          <p:nvPr/>
        </p:nvSpPr>
        <p:spPr>
          <a:xfrm>
            <a:off x="6217920" y="27889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2.</a:t>
            </a:r>
            <a:endParaRPr lang="en-US" sz="1600"/>
          </a:p>
        </p:txBody>
      </p:sp>
      <p:sp>
        <p:nvSpPr>
          <p:cNvPr id="13" name="Text 10"/>
          <p:cNvSpPr/>
          <p:nvPr/>
        </p:nvSpPr>
        <p:spPr>
          <a:xfrm>
            <a:off x="653796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Fruit Snacks</a:t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6537960" y="30632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5" name="Shape 12"/>
          <p:cNvSpPr/>
          <p:nvPr/>
        </p:nvSpPr>
        <p:spPr>
          <a:xfrm>
            <a:off x="6126480" y="352044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6" name="Text 13"/>
          <p:cNvSpPr/>
          <p:nvPr/>
        </p:nvSpPr>
        <p:spPr>
          <a:xfrm>
            <a:off x="6217920" y="3566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3.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>
          <a:xfrm>
            <a:off x="6537960" y="3566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Popcorn</a:t>
            </a:r>
            <a:endParaRPr lang="en-US" sz="1300"/>
          </a:p>
        </p:txBody>
      </p:sp>
      <p:sp>
        <p:nvSpPr>
          <p:cNvPr id="18" name="Text 15"/>
          <p:cNvSpPr/>
          <p:nvPr/>
        </p:nvSpPr>
        <p:spPr>
          <a:xfrm>
            <a:off x="6537960" y="3840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9" name="Shape 16"/>
          <p:cNvSpPr/>
          <p:nvPr/>
        </p:nvSpPr>
        <p:spPr>
          <a:xfrm>
            <a:off x="6126480" y="4251960"/>
            <a:ext cx="2743200" cy="59436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7"/>
          <p:cNvSpPr/>
          <p:nvPr/>
        </p:nvSpPr>
        <p:spPr>
          <a:xfrm>
            <a:off x="6217920" y="427939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R&amp;D Target: &gt;= 15g protein</a:t>
            </a:r>
            <a:endParaRPr lang="en-US" sz="1100"/>
          </a:p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and &lt; 8g sugar per 100g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5 : The Hidden Gem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Top Protein Sources in High-Protein Snacks (&gt;= 15g protein per 100g)</a:t>
            </a:r>
            <a:endParaRPr lang="en-US" sz="1300"/>
          </a:p>
        </p:txBody>
      </p:sp>
      <p:sp>
        <p:nvSpPr>
          <p:cNvPr id="6" name="Text 3"/>
          <p:cNvSpPr/>
          <p:nvPr/>
        </p:nvSpPr>
        <p:spPr>
          <a:xfrm>
            <a:off x="5760720" y="1508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</a:rPr>
              <a:t>R&amp;D RECOMMENDATION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760720" y="196596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8" name="Shape 5"/>
          <p:cNvSpPr/>
          <p:nvPr/>
        </p:nvSpPr>
        <p:spPr>
          <a:xfrm>
            <a:off x="5852160" y="2029968"/>
            <a:ext cx="457200" cy="457200"/>
          </a:xfrm>
          <a:prstGeom prst="ellipse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Text 6"/>
          <p:cNvSpPr/>
          <p:nvPr/>
        </p:nvSpPr>
        <p:spPr>
          <a:xfrm>
            <a:off x="585216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64008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6E56"/>
                </a:solidFill>
              </a:rPr>
              <a:t>Soy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6400800" y="23317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8,420 products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5760720" y="278892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3" name="Shape 10"/>
          <p:cNvSpPr/>
          <p:nvPr/>
        </p:nvSpPr>
        <p:spPr>
          <a:xfrm>
            <a:off x="5852160" y="2852928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Text 11"/>
          <p:cNvSpPr/>
          <p:nvPr/>
        </p:nvSpPr>
        <p:spPr>
          <a:xfrm>
            <a:off x="585216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6400800" y="2880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D9E75"/>
                </a:solidFill>
              </a:rPr>
              <a:t>Peanut</a:t>
            </a:r>
            <a:endParaRPr lang="en-US" sz="1400"/>
          </a:p>
        </p:txBody>
      </p:sp>
      <p:sp>
        <p:nvSpPr>
          <p:cNvPr id="16" name="Text 13"/>
          <p:cNvSpPr/>
          <p:nvPr/>
        </p:nvSpPr>
        <p:spPr>
          <a:xfrm>
            <a:off x="6400800" y="31546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7,010 products</a:t>
            </a:r>
            <a:endParaRPr lang="en-US" sz="1100"/>
          </a:p>
        </p:txBody>
      </p:sp>
      <p:sp>
        <p:nvSpPr>
          <p:cNvPr id="17" name="Shape 14"/>
          <p:cNvSpPr/>
          <p:nvPr/>
        </p:nvSpPr>
        <p:spPr>
          <a:xfrm>
            <a:off x="5760720" y="361188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8" name="Shape 15"/>
          <p:cNvSpPr/>
          <p:nvPr/>
        </p:nvSpPr>
        <p:spPr>
          <a:xfrm>
            <a:off x="5852160" y="3675888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Text 16"/>
          <p:cNvSpPr/>
          <p:nvPr/>
        </p:nvSpPr>
        <p:spPr>
          <a:xfrm>
            <a:off x="5852160" y="3675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20" name="Text 17"/>
          <p:cNvSpPr/>
          <p:nvPr/>
        </p:nvSpPr>
        <p:spPr>
          <a:xfrm>
            <a:off x="64008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A9D8F"/>
                </a:solidFill>
              </a:rPr>
              <a:t>Oat</a:t>
            </a:r>
            <a:endParaRPr lang="en-US" sz="1400"/>
          </a:p>
        </p:txBody>
      </p:sp>
      <p:sp>
        <p:nvSpPr>
          <p:cNvPr id="21" name="Text 18"/>
          <p:cNvSpPr/>
          <p:nvPr/>
        </p:nvSpPr>
        <p:spPr>
          <a:xfrm>
            <a:off x="6400800" y="39776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5,940 products</a:t>
            </a:r>
            <a:endParaRPr lang="en-US" sz="1100"/>
          </a:p>
        </p:txBody>
      </p:sp>
      <p:sp>
        <p:nvSpPr>
          <p:cNvPr id="22" name="Shape 19"/>
          <p:cNvSpPr/>
          <p:nvPr/>
        </p:nvSpPr>
        <p:spPr>
          <a:xfrm>
            <a:off x="5760720" y="4434840"/>
            <a:ext cx="3200400" cy="50292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3" name="Text 20"/>
          <p:cNvSpPr/>
          <p:nvPr/>
        </p:nvSpPr>
        <p:spPr>
          <a:xfrm>
            <a:off x="5852160" y="44622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Use soy , Peanut, or Soat as</a:t>
            </a:r>
            <a:endParaRPr lang="en-US" sz="1100"/>
          </a:p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primary protein sources in new products</a:t>
            </a:r>
            <a:endParaRPr lang="en-US" sz="110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8A1EF53-5533-ACBC-8D49-9BA70C96C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36658"/>
            <a:ext cx="5097780" cy="30182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6 : Candidate's Choice: Triple Opportunity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What I Added: Triple Opportunity Index -High Protein + High Fiber + Low Sugar</a:t>
            </a:r>
            <a:endParaRPr lang="en-US" sz="13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463040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760720" y="1508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</a:rPr>
              <a:t>WHY I ADDED THIS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760720" y="1920240"/>
            <a:ext cx="3200400" cy="2560320"/>
          </a:xfrm>
          <a:prstGeom prst="rect">
            <a:avLst/>
          </a:prstGeom>
          <a:solidFill>
            <a:srgbClr val="E6F1FB"/>
          </a:solidFill>
          <a:ln w="12700">
            <a:solidFill>
              <a:srgbClr val="B5D4F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5"/>
          <p:cNvSpPr/>
          <p:nvPr/>
        </p:nvSpPr>
        <p:spPr>
          <a:xfrm>
            <a:off x="5852160" y="20116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mentions High Protein AND High Fiber ,but Stories 3 &amp; 4 only measure sugar vs protein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5852160" y="26060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triple-claim product commands a premium price point</a:t>
            </a:r>
            <a:endParaRPr lang="en-US" sz="1100"/>
          </a:p>
        </p:txBody>
      </p:sp>
      <p:sp>
        <p:nvSpPr>
          <p:cNvPr id="10" name="Text 7"/>
          <p:cNvSpPr/>
          <p:nvPr/>
        </p:nvSpPr>
        <p:spPr>
          <a:xfrm>
            <a:off x="585216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Meets EU criteria for both high protein AND high fiber front-of-pack claims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5852160" y="37947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Reveals an even rarer market position  harder for competitors to copy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5760720" y="4663440"/>
            <a:ext cx="3200400" cy="27432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3" name="Text 10"/>
          <p:cNvSpPr/>
          <p:nvPr/>
        </p:nvSpPr>
        <p:spPr>
          <a:xfrm>
            <a:off x="5806440" y="46817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7500A"/>
                </a:solidFill>
              </a:rPr>
              <a:t>Criteria: &gt;= 15g protein | &lt;= 10g sugar | &gt;= 5g fiber</a:t>
            </a:r>
            <a:endParaRPr lang="en-US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20040" y="3657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Recommendation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8503920" cy="12801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data, the biggest market opportunity is in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 Cream &amp; Frozen Snacks, Fruit Snacks, and Popcorn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,specifically targeting products with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15g of protein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less than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8g of sugar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100g.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320040" y="2606040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7" name="Shape 5"/>
          <p:cNvSpPr/>
          <p:nvPr/>
        </p:nvSpPr>
        <p:spPr>
          <a:xfrm>
            <a:off x="320040" y="2606040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71.4%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737360" y="262432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snacks are in the Danger Zone - oversaturated market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20040" y="3182112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320040" y="3182112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320040" y="31821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4.2%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1737360" y="32004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products occupy the healthy quadrant -Blue Ocean confirmed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320040" y="3758184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320040" y="375818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0%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1737360" y="377647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Ice Cream, Fruit Snacks, Popcorn products meet healthy criteria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320040" y="4334256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Shape 17"/>
          <p:cNvSpPr/>
          <p:nvPr/>
        </p:nvSpPr>
        <p:spPr>
          <a:xfrm>
            <a:off x="320040" y="4334256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320040" y="433425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Soy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737360" y="435254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Peanut, Oat, top 3 protein sources for R&amp;D formulation</a:t>
            </a: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bf98d2-bf92-4575-845a-27a8200a6ff2}" enabled="1" method="Privileged" siteId="{b20a8f4d-0d6a-4f2e-83a2-181c968f888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700</Words>
  <Application>Microsoft Office PowerPoint</Application>
  <PresentationFormat>On-screen Show (16:9)</PresentationFormat>
  <Paragraphs>120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Sugar Trap — Market Gap Analysis</dc:title>
  <dc:subject>PptxGenJS Presentation</dc:subject>
  <dc:creator>PptxGenJS</dc:creator>
  <cp:lastModifiedBy>Angela Tenkorang</cp:lastModifiedBy>
  <cp:revision>1</cp:revision>
  <dcterms:created xsi:type="dcterms:W3CDTF">2026-04-27T09:06:00Z</dcterms:created>
  <dcterms:modified xsi:type="dcterms:W3CDTF">2026-04-27T11:43:50Z</dcterms:modified>
</cp:coreProperties>
</file>