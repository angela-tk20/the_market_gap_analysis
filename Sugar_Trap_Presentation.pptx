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5_0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in Healthy Zone</c:v>
                </c:pt>
              </c:strCache>
            </c:strRef>
          </c:tx>
          <c:spPr>
            <a:solidFill>
              <a:srgbClr val="0F6E5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A755-4DF1-9830-F7B226CC67EF}"/>
              </c:ext>
            </c:extLst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755-4DF1-9830-F7B226CC67EF}"/>
              </c:ext>
            </c:extLst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755-4DF1-9830-F7B226CC67EF}"/>
              </c:ext>
            </c:extLst>
          </c:dPt>
          <c:dPt>
            <c:idx val="3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755-4DF1-9830-F7B226CC67EF}"/>
              </c:ext>
            </c:extLst>
          </c:dPt>
          <c:dPt>
            <c:idx val="4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755-4DF1-9830-F7B226CC67EF}"/>
              </c:ext>
            </c:extLst>
          </c:dPt>
          <c:dPt>
            <c:idx val="5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755-4DF1-9830-F7B226CC67EF}"/>
              </c:ext>
            </c:extLst>
          </c:dPt>
          <c:dPt>
            <c:idx val="6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755-4DF1-9830-F7B226CC67EF}"/>
              </c:ext>
            </c:extLst>
          </c:dPt>
          <c:dPt>
            <c:idx val="7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755-4DF1-9830-F7B226CC67EF}"/>
              </c:ext>
            </c:extLst>
          </c:dPt>
          <c:dPt>
            <c:idx val="8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755-4DF1-9830-F7B226CC67EF}"/>
              </c:ext>
            </c:extLst>
          </c:dPt>
          <c:dPt>
            <c:idx val="9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755-4DF1-9830-F7B226CC67EF}"/>
              </c:ext>
            </c:extLst>
          </c:dPt>
          <c:dPt>
            <c:idx val="10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5-A755-4DF1-9830-F7B226CC67EF}"/>
              </c:ext>
            </c:extLst>
          </c:dPt>
          <c:dPt>
            <c:idx val="11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7-A755-4DF1-9830-F7B226CC67EF}"/>
              </c:ext>
            </c:extLst>
          </c:dPt>
          <c:dPt>
            <c:idx val="12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9-A755-4DF1-9830-F7B226CC67EF}"/>
              </c:ext>
            </c:extLst>
          </c:dPt>
          <c:dPt>
            <c:idx val="13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B-A755-4DF1-9830-F7B226CC67EF}"/>
              </c:ext>
            </c:extLst>
          </c:dPt>
          <c:dPt>
            <c:idx val="14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D-A755-4DF1-9830-F7B226CC67EF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G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Sheet1!$A$2:$A$16</c:f>
              <c:strCache>
                <c:ptCount val="15"/>
                <c:pt idx="0">
                  <c:v>Protein Bars</c:v>
                </c:pt>
                <c:pt idx="1">
                  <c:v>Meat &amp; Fish Snacks</c:v>
                </c:pt>
                <c:pt idx="2">
                  <c:v>Cheese Snacks</c:v>
                </c:pt>
                <c:pt idx="3">
                  <c:v>Other Snacks</c:v>
                </c:pt>
                <c:pt idx="4">
                  <c:v>Cakes &amp; Pastries</c:v>
                </c:pt>
                <c:pt idx="5">
                  <c:v>Granola &amp; Cereals</c:v>
                </c:pt>
                <c:pt idx="6">
                  <c:v>Sweet Spreads</c:v>
                </c:pt>
                <c:pt idx="7">
                  <c:v>Chocolate &amp; Candy</c:v>
                </c:pt>
                <c:pt idx="8">
                  <c:v>Chips &amp; Crisps</c:v>
                </c:pt>
                <c:pt idx="9">
                  <c:v>Crackers</c:v>
                </c:pt>
                <c:pt idx="10">
                  <c:v>Yogurt &amp; Dairy</c:v>
                </c:pt>
                <c:pt idx="11">
                  <c:v>Biscuits &amp; Cookies</c:v>
                </c:pt>
                <c:pt idx="12">
                  <c:v>Popcorn</c:v>
                </c:pt>
                <c:pt idx="13">
                  <c:v>Fruit Snacks</c:v>
                </c:pt>
                <c:pt idx="14">
                  <c:v>Ice Cream &amp; Frozen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70.599999999999994</c:v>
                </c:pt>
                <c:pt idx="1">
                  <c:v>51.9</c:v>
                </c:pt>
                <c:pt idx="2">
                  <c:v>50</c:v>
                </c:pt>
                <c:pt idx="3">
                  <c:v>12.7</c:v>
                </c:pt>
                <c:pt idx="4">
                  <c:v>9.5</c:v>
                </c:pt>
                <c:pt idx="5">
                  <c:v>2.9</c:v>
                </c:pt>
                <c:pt idx="6">
                  <c:v>2.6</c:v>
                </c:pt>
                <c:pt idx="7">
                  <c:v>2</c:v>
                </c:pt>
                <c:pt idx="8">
                  <c:v>1.9</c:v>
                </c:pt>
                <c:pt idx="9">
                  <c:v>1.8</c:v>
                </c:pt>
                <c:pt idx="10">
                  <c:v>1.5</c:v>
                </c:pt>
                <c:pt idx="11">
                  <c:v>1.1000000000000001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E-A755-4DF1-9830-F7B226CC67E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Triple Zone</c:v>
                </c:pt>
              </c:strCache>
            </c:strRef>
          </c:tx>
          <c:spPr>
            <a:solidFill>
              <a:srgbClr val="E6394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5CD-44DC-91B0-5099BD173D9E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C5CD-44DC-91B0-5099BD173D9E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5-C5CD-44DC-91B0-5099BD173D9E}"/>
              </c:ext>
            </c:extLst>
          </c:dPt>
          <c:dPt>
            <c:idx val="3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5CD-44DC-91B0-5099BD173D9E}"/>
              </c:ext>
            </c:extLst>
          </c:dPt>
          <c:dPt>
            <c:idx val="4"/>
            <c:invertIfNegative val="0"/>
            <c:bubble3D val="0"/>
            <c:spPr>
              <a:solidFill>
                <a:srgbClr val="F4A2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5CD-44DC-91B0-5099BD173D9E}"/>
              </c:ext>
            </c:extLst>
          </c:dPt>
          <c:dPt>
            <c:idx val="5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C5CD-44DC-91B0-5099BD173D9E}"/>
              </c:ext>
            </c:extLst>
          </c:dPt>
          <c:dPt>
            <c:idx val="6"/>
            <c:invertIfNegative val="0"/>
            <c:bubble3D val="0"/>
            <c:spPr>
              <a:solidFill>
                <a:srgbClr val="EF9F2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C5CD-44DC-91B0-5099BD173D9E}"/>
              </c:ext>
            </c:extLst>
          </c:dPt>
          <c:dPt>
            <c:idx val="7"/>
            <c:invertIfNegative val="0"/>
            <c:bubble3D val="0"/>
            <c:spPr>
              <a:solidFill>
                <a:srgbClr val="97C45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C5CD-44DC-91B0-5099BD173D9E}"/>
              </c:ext>
            </c:extLst>
          </c:dPt>
          <c:dPt>
            <c:idx val="8"/>
            <c:invertIfNegative val="0"/>
            <c:bubble3D val="0"/>
            <c:spPr>
              <a:solidFill>
                <a:srgbClr val="1D9E75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C5CD-44DC-91B0-5099BD173D9E}"/>
              </c:ext>
            </c:extLst>
          </c:dPt>
          <c:dPt>
            <c:idx val="9"/>
            <c:invertIfNegative val="0"/>
            <c:bubble3D val="0"/>
            <c:spPr>
              <a:solidFill>
                <a:srgbClr val="0F6E5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C5CD-44DC-91B0-5099BD173D9E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GH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Biscuits &amp; Cookies</c:v>
                </c:pt>
                <c:pt idx="1">
                  <c:v>Fruit Snacks</c:v>
                </c:pt>
                <c:pt idx="2">
                  <c:v>Ice Cream &amp; Frozen</c:v>
                </c:pt>
                <c:pt idx="3">
                  <c:v>Chocolate &amp; Candy</c:v>
                </c:pt>
                <c:pt idx="4">
                  <c:v>Chips &amp; Crisps</c:v>
                </c:pt>
                <c:pt idx="5">
                  <c:v>Granola &amp; Cereals</c:v>
                </c:pt>
                <c:pt idx="6">
                  <c:v>Cakes &amp; Pastries</c:v>
                </c:pt>
                <c:pt idx="7">
                  <c:v>Nuts &amp; Seeds</c:v>
                </c:pt>
                <c:pt idx="8">
                  <c:v>Meat &amp; Fish Snacks</c:v>
                </c:pt>
                <c:pt idx="9">
                  <c:v>Protein Bars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0.5</c:v>
                </c:pt>
                <c:pt idx="4">
                  <c:v>1</c:v>
                </c:pt>
                <c:pt idx="5">
                  <c:v>2.5</c:v>
                </c:pt>
                <c:pt idx="6">
                  <c:v>4</c:v>
                </c:pt>
                <c:pt idx="7">
                  <c:v>15</c:v>
                </c:pt>
                <c:pt idx="8">
                  <c:v>30</c:v>
                </c:pt>
                <c:pt idx="9">
                  <c:v>50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C5CD-44DC-91B0-5099BD173D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2693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16284F"/>
          </a:solidFill>
          <a:ln w="12700">
            <a:solidFill>
              <a:srgbClr val="16284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4" name="Text 2"/>
          <p:cNvSpPr/>
          <p:nvPr/>
        </p:nvSpPr>
        <p:spPr>
          <a:xfrm>
            <a:off x="274320" y="548640"/>
            <a:ext cx="8595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2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SUGAR TRAP</a:t>
            </a:r>
            <a:endParaRPr lang="en-US" sz="5200"/>
          </a:p>
        </p:txBody>
      </p:sp>
      <p:sp>
        <p:nvSpPr>
          <p:cNvPr id="5" name="Text 3"/>
          <p:cNvSpPr/>
          <p:nvPr/>
        </p:nvSpPr>
        <p:spPr>
          <a:xfrm>
            <a:off x="274320" y="1508760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i="1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Analysis</a:t>
            </a:r>
            <a:endParaRPr lang="en-US" sz="2600"/>
          </a:p>
        </p:txBody>
      </p:sp>
      <p:sp>
        <p:nvSpPr>
          <p:cNvPr id="6" name="Text 4"/>
          <p:cNvSpPr/>
          <p:nvPr/>
        </p:nvSpPr>
        <p:spPr>
          <a:xfrm>
            <a:off x="274320" y="2148840"/>
            <a:ext cx="8595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7B9C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is the Blue Ocean in the Snack Aisle?</a:t>
            </a:r>
            <a:endParaRPr lang="en-US" sz="1600"/>
          </a:p>
        </p:txBody>
      </p:sp>
      <p:sp>
        <p:nvSpPr>
          <p:cNvPr id="8" name="Text 6"/>
          <p:cNvSpPr/>
          <p:nvPr/>
        </p:nvSpPr>
        <p:spPr>
          <a:xfrm>
            <a:off x="274320" y="28803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100"/>
          </a:p>
        </p:txBody>
      </p:sp>
      <p:sp>
        <p:nvSpPr>
          <p:cNvPr id="9" name="Text 7"/>
          <p:cNvSpPr/>
          <p:nvPr/>
        </p:nvSpPr>
        <p:spPr>
          <a:xfrm>
            <a:off x="274320" y="3657600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Client: </a:t>
            </a:r>
            <a:r>
              <a:rPr lang="en-US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Helix CPG Partners</a:t>
            </a:r>
            <a:r>
              <a:rPr lang="en-US" sz="120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r>
              <a:rPr lang="en-US" sz="1200" b="1">
                <a:solidFill>
                  <a:srgbClr val="A8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 </a:t>
            </a:r>
            <a:r>
              <a:rPr lang="en-US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Food Facts</a:t>
            </a:r>
            <a:r>
              <a:rPr lang="en-US" sz="120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|   </a:t>
            </a:r>
            <a:r>
              <a:rPr lang="en-US" sz="12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500,000 Products Analysed</a:t>
            </a:r>
            <a:endParaRPr lang="en-US" sz="1200"/>
          </a:p>
        </p:txBody>
      </p:sp>
      <p:sp>
        <p:nvSpPr>
          <p:cNvPr id="10" name="Text 8"/>
          <p:cNvSpPr/>
          <p:nvPr/>
        </p:nvSpPr>
        <p:spPr>
          <a:xfrm>
            <a:off x="274320" y="42062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>
                <a:solidFill>
                  <a:srgbClr val="4A6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Analyst: Angela Tenkorang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Business Question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r>
              <a:rPr lang="en-US" sz="2000" b="1" i="1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is the Blue Ocean in the snack aisle?</a:t>
            </a:r>
            <a:r>
              <a:rPr lang="en-US" sz="4000" b="1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4000"/>
          </a:p>
        </p:txBody>
      </p:sp>
      <p:sp>
        <p:nvSpPr>
          <p:cNvPr id="6" name="Shape 4"/>
          <p:cNvSpPr/>
          <p:nvPr/>
        </p:nvSpPr>
        <p:spPr>
          <a:xfrm>
            <a:off x="36576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7" name="Shape 5"/>
          <p:cNvSpPr/>
          <p:nvPr/>
        </p:nvSpPr>
        <p:spPr>
          <a:xfrm>
            <a:off x="36576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36576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The Client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47548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global snack manufacturer wants to launch a Healthy Snacking product line</a:t>
            </a:r>
            <a:endParaRPr lang="en-US" sz="1200"/>
          </a:p>
        </p:txBody>
      </p:sp>
      <p:sp>
        <p:nvSpPr>
          <p:cNvPr id="10" name="Shape 8"/>
          <p:cNvSpPr/>
          <p:nvPr/>
        </p:nvSpPr>
        <p:spPr>
          <a:xfrm>
            <a:off x="320040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320040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320040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The Problem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331012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oversaturated with sugary treats , but they lack data to prove where the gaps are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6035040" y="2926080"/>
            <a:ext cx="2651760" cy="173736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5" name="Shape 13"/>
          <p:cNvSpPr/>
          <p:nvPr/>
        </p:nvSpPr>
        <p:spPr>
          <a:xfrm>
            <a:off x="6035040" y="2926080"/>
            <a:ext cx="2651760" cy="3200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6035040" y="2926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FFFFFF"/>
                </a:solidFill>
              </a:rPr>
              <a:t>Our Mission</a:t>
            </a:r>
            <a:endParaRPr lang="en-US" sz="1300"/>
          </a:p>
        </p:txBody>
      </p:sp>
      <p:sp>
        <p:nvSpPr>
          <p:cNvPr id="17" name="Text 15"/>
          <p:cNvSpPr/>
          <p:nvPr/>
        </p:nvSpPr>
        <p:spPr>
          <a:xfrm>
            <a:off x="6144768" y="3337560"/>
            <a:ext cx="2432304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Open Food Facts (500k products) to identify where healthy demand is unmet by current supply</a:t>
            </a:r>
            <a:endParaRPr lang="en-US" sz="1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Methodology — 5 Sprints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27432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94360" cy="594360"/>
          </a:xfrm>
          <a:prstGeom prst="ellipse">
            <a:avLst/>
          </a:prstGeom>
          <a:solidFill>
            <a:srgbClr val="185FA5"/>
          </a:solidFill>
          <a:ln w="12700">
            <a:solidFill>
              <a:srgbClr val="185FA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1</a:t>
            </a:r>
            <a:endParaRPr lang="en-US" sz="2000"/>
          </a:p>
        </p:txBody>
      </p:sp>
      <p:sp>
        <p:nvSpPr>
          <p:cNvPr id="7" name="Text 5"/>
          <p:cNvSpPr/>
          <p:nvPr/>
        </p:nvSpPr>
        <p:spPr>
          <a:xfrm>
            <a:off x="34747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1</a:t>
            </a:r>
            <a:endParaRPr lang="en-US" sz="1100"/>
          </a:p>
        </p:txBody>
      </p:sp>
      <p:sp>
        <p:nvSpPr>
          <p:cNvPr id="8" name="Text 6"/>
          <p:cNvSpPr/>
          <p:nvPr/>
        </p:nvSpPr>
        <p:spPr>
          <a:xfrm>
            <a:off x="34747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36576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500k rows loaded. Nulls removed. Impossible values filtered. Duplicates dropped.</a:t>
            </a:r>
            <a:endParaRPr lang="en-US" sz="1000"/>
          </a:p>
        </p:txBody>
      </p:sp>
      <p:sp>
        <p:nvSpPr>
          <p:cNvPr id="10" name="Shape 8"/>
          <p:cNvSpPr/>
          <p:nvPr/>
        </p:nvSpPr>
        <p:spPr>
          <a:xfrm>
            <a:off x="201168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2468880" y="1417320"/>
            <a:ext cx="594360" cy="594360"/>
          </a:xfrm>
          <a:prstGeom prst="ellipse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246888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08483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2</a:t>
            </a:r>
            <a:endParaRPr lang="en-US" sz="1100"/>
          </a:p>
        </p:txBody>
      </p:sp>
      <p:sp>
        <p:nvSpPr>
          <p:cNvPr id="14" name="Text 12"/>
          <p:cNvSpPr/>
          <p:nvPr/>
        </p:nvSpPr>
        <p:spPr>
          <a:xfrm>
            <a:off x="208483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Wrangling</a:t>
            </a:r>
            <a:endParaRPr lang="en-US" sz="1300"/>
          </a:p>
        </p:txBody>
      </p:sp>
      <p:sp>
        <p:nvSpPr>
          <p:cNvPr id="15" name="Text 13"/>
          <p:cNvSpPr/>
          <p:nvPr/>
        </p:nvSpPr>
        <p:spPr>
          <a:xfrm>
            <a:off x="210312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clean category buckets created from 10,000 messy raw tags.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374904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7" name="Shape 15"/>
          <p:cNvSpPr/>
          <p:nvPr/>
        </p:nvSpPr>
        <p:spPr>
          <a:xfrm>
            <a:off x="4206240" y="1417320"/>
            <a:ext cx="594360" cy="594360"/>
          </a:xfrm>
          <a:prstGeom prst="ellipse">
            <a:avLst/>
          </a:prstGeom>
          <a:solidFill>
            <a:srgbClr val="854F0B"/>
          </a:solidFill>
          <a:ln w="12700">
            <a:solidFill>
              <a:srgbClr val="854F0B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8" name="Text 16"/>
          <p:cNvSpPr/>
          <p:nvPr/>
        </p:nvSpPr>
        <p:spPr>
          <a:xfrm>
            <a:off x="420624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3</a:t>
            </a:r>
            <a:endParaRPr lang="en-US" sz="2000"/>
          </a:p>
        </p:txBody>
      </p:sp>
      <p:sp>
        <p:nvSpPr>
          <p:cNvPr id="19" name="Text 17"/>
          <p:cNvSpPr/>
          <p:nvPr/>
        </p:nvSpPr>
        <p:spPr>
          <a:xfrm>
            <a:off x="382219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3</a:t>
            </a:r>
            <a:endParaRPr lang="en-US" sz="1100"/>
          </a:p>
        </p:txBody>
      </p:sp>
      <p:sp>
        <p:nvSpPr>
          <p:cNvPr id="20" name="Text 18"/>
          <p:cNvSpPr/>
          <p:nvPr/>
        </p:nvSpPr>
        <p:spPr>
          <a:xfrm>
            <a:off x="382219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Nutrient Matrix</a:t>
            </a:r>
            <a:endParaRPr lang="en-US" sz="1300"/>
          </a:p>
        </p:txBody>
      </p:sp>
      <p:sp>
        <p:nvSpPr>
          <p:cNvPr id="21" name="Text 19"/>
          <p:cNvSpPr/>
          <p:nvPr/>
        </p:nvSpPr>
        <p:spPr>
          <a:xfrm>
            <a:off x="384048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 plot built, Sugar vs Protein , revealing the empty healthy quadrant.</a:t>
            </a:r>
            <a:endParaRPr lang="en-US" sz="1000"/>
          </a:p>
        </p:txBody>
      </p:sp>
      <p:sp>
        <p:nvSpPr>
          <p:cNvPr id="22" name="Shape 20"/>
          <p:cNvSpPr/>
          <p:nvPr/>
        </p:nvSpPr>
        <p:spPr>
          <a:xfrm>
            <a:off x="548640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3" name="Shape 21"/>
          <p:cNvSpPr/>
          <p:nvPr/>
        </p:nvSpPr>
        <p:spPr>
          <a:xfrm>
            <a:off x="5943600" y="1417320"/>
            <a:ext cx="594360" cy="594360"/>
          </a:xfrm>
          <a:prstGeom prst="ellipse">
            <a:avLst/>
          </a:prstGeom>
          <a:solidFill>
            <a:srgbClr val="791F1F"/>
          </a:solidFill>
          <a:ln w="12700">
            <a:solidFill>
              <a:srgbClr val="791F1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4" name="Text 22"/>
          <p:cNvSpPr/>
          <p:nvPr/>
        </p:nvSpPr>
        <p:spPr>
          <a:xfrm>
            <a:off x="594360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4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555955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4</a:t>
            </a:r>
            <a:endParaRPr lang="en-US" sz="1100"/>
          </a:p>
        </p:txBody>
      </p:sp>
      <p:sp>
        <p:nvSpPr>
          <p:cNvPr id="26" name="Text 24"/>
          <p:cNvSpPr/>
          <p:nvPr/>
        </p:nvSpPr>
        <p:spPr>
          <a:xfrm>
            <a:off x="555955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</a:t>
            </a:r>
            <a:endParaRPr lang="en-US" sz="1300"/>
          </a:p>
        </p:txBody>
      </p:sp>
      <p:sp>
        <p:nvSpPr>
          <p:cNvPr id="27" name="Text 25"/>
          <p:cNvSpPr/>
          <p:nvPr/>
        </p:nvSpPr>
        <p:spPr>
          <a:xfrm>
            <a:off x="557784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Index calculated. Top 3 opportunity categories identified. Key Insight generated.</a:t>
            </a:r>
            <a:endParaRPr lang="en-US" sz="1000"/>
          </a:p>
        </p:txBody>
      </p:sp>
      <p:sp>
        <p:nvSpPr>
          <p:cNvPr id="28" name="Shape 26"/>
          <p:cNvSpPr/>
          <p:nvPr/>
        </p:nvSpPr>
        <p:spPr>
          <a:xfrm>
            <a:off x="7223760" y="1280160"/>
            <a:ext cx="1508760" cy="347472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29" name="Shape 27"/>
          <p:cNvSpPr/>
          <p:nvPr/>
        </p:nvSpPr>
        <p:spPr>
          <a:xfrm>
            <a:off x="7680960" y="1417320"/>
            <a:ext cx="594360" cy="594360"/>
          </a:xfrm>
          <a:prstGeom prst="ellipse">
            <a:avLst/>
          </a:prstGeom>
          <a:solidFill>
            <a:srgbClr val="533AB7"/>
          </a:solidFill>
          <a:ln w="12700">
            <a:solidFill>
              <a:srgbClr val="533AB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0" name="Text 28"/>
          <p:cNvSpPr/>
          <p:nvPr/>
        </p:nvSpPr>
        <p:spPr>
          <a:xfrm>
            <a:off x="7680960" y="14173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>
                <a:solidFill>
                  <a:srgbClr val="FFFFFF"/>
                </a:solidFill>
              </a:rPr>
              <a:t>5</a:t>
            </a:r>
            <a:endParaRPr lang="en-US" sz="2000"/>
          </a:p>
        </p:txBody>
      </p:sp>
      <p:sp>
        <p:nvSpPr>
          <p:cNvPr id="31" name="Text 29"/>
          <p:cNvSpPr/>
          <p:nvPr/>
        </p:nvSpPr>
        <p:spPr>
          <a:xfrm>
            <a:off x="7296912" y="21488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>
                <a:solidFill>
                  <a:srgbClr val="64748B"/>
                </a:solidFill>
              </a:rPr>
              <a:t>Sprint 5</a:t>
            </a:r>
            <a:endParaRPr lang="en-US" sz="1100"/>
          </a:p>
        </p:txBody>
      </p:sp>
      <p:sp>
        <p:nvSpPr>
          <p:cNvPr id="32" name="Text 30"/>
          <p:cNvSpPr/>
          <p:nvPr/>
        </p:nvSpPr>
        <p:spPr>
          <a:xfrm>
            <a:off x="7296912" y="245059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Candidate's Choice</a:t>
            </a:r>
            <a:endParaRPr lang="en-US" sz="1300"/>
          </a:p>
        </p:txBody>
      </p:sp>
      <p:sp>
        <p:nvSpPr>
          <p:cNvPr id="33" name="Text 31"/>
          <p:cNvSpPr/>
          <p:nvPr/>
        </p:nvSpPr>
        <p:spPr>
          <a:xfrm>
            <a:off x="7315200" y="2926080"/>
            <a:ext cx="132588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0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Opportunity Index: Protein + Fiber + Sugar , revealing an even rarer market position.</a:t>
            </a:r>
            <a:endParaRPr lang="en-US"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 - The Market Gap</a:t>
            </a:r>
            <a:endParaRPr lang="en-US" sz="2800"/>
          </a:p>
        </p:txBody>
      </p:sp>
      <p:sp>
        <p:nvSpPr>
          <p:cNvPr id="4" name="Shape 2"/>
          <p:cNvSpPr/>
          <p:nvPr/>
        </p:nvSpPr>
        <p:spPr>
          <a:xfrm>
            <a:off x="274320" y="1188720"/>
            <a:ext cx="192024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27432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1F386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487K+</a:t>
            </a:r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27432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Products Analysed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27432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after cleaning</a:t>
            </a:r>
            <a:endParaRPr lang="en-US" sz="1000"/>
          </a:p>
        </p:txBody>
      </p:sp>
      <p:sp>
        <p:nvSpPr>
          <p:cNvPr id="8" name="Shape 6"/>
          <p:cNvSpPr/>
          <p:nvPr/>
        </p:nvSpPr>
        <p:spPr>
          <a:xfrm>
            <a:off x="2423160" y="1188720"/>
            <a:ext cx="192024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9" name="Text 7"/>
          <p:cNvSpPr/>
          <p:nvPr/>
        </p:nvSpPr>
        <p:spPr>
          <a:xfrm>
            <a:off x="242316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791F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71.4%</a:t>
            </a:r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242316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In Danger Zone</a:t>
            </a:r>
            <a:endParaRPr lang="en-US" sz="1200"/>
          </a:p>
        </p:txBody>
      </p:sp>
      <p:sp>
        <p:nvSpPr>
          <p:cNvPr id="11" name="Text 9"/>
          <p:cNvSpPr/>
          <p:nvPr/>
        </p:nvSpPr>
        <p:spPr>
          <a:xfrm>
            <a:off x="242316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high sugar + low protein</a:t>
            </a:r>
            <a:endParaRPr lang="en-US" sz="1000"/>
          </a:p>
        </p:txBody>
      </p:sp>
      <p:sp>
        <p:nvSpPr>
          <p:cNvPr id="12" name="Shape 10"/>
          <p:cNvSpPr/>
          <p:nvPr/>
        </p:nvSpPr>
        <p:spPr>
          <a:xfrm>
            <a:off x="4572000" y="1188720"/>
            <a:ext cx="1920240" cy="1463040"/>
          </a:xfrm>
          <a:prstGeom prst="rect">
            <a:avLst/>
          </a:prstGeom>
          <a:solidFill>
            <a:srgbClr val="EAF3DE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3" name="Text 11"/>
          <p:cNvSpPr/>
          <p:nvPr/>
        </p:nvSpPr>
        <p:spPr>
          <a:xfrm>
            <a:off x="457200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3B6D1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4.2%</a:t>
            </a:r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457200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In Blue Ocean</a:t>
            </a:r>
            <a:endParaRPr lang="en-US" sz="1200"/>
          </a:p>
        </p:txBody>
      </p:sp>
      <p:sp>
        <p:nvSpPr>
          <p:cNvPr id="15" name="Text 13"/>
          <p:cNvSpPr/>
          <p:nvPr/>
        </p:nvSpPr>
        <p:spPr>
          <a:xfrm>
            <a:off x="457200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high protein + low sugar</a:t>
            </a:r>
            <a:endParaRPr lang="en-US" sz="1000"/>
          </a:p>
        </p:txBody>
      </p:sp>
      <p:sp>
        <p:nvSpPr>
          <p:cNvPr id="16" name="Shape 14"/>
          <p:cNvSpPr/>
          <p:nvPr/>
        </p:nvSpPr>
        <p:spPr>
          <a:xfrm>
            <a:off x="6720840" y="1188720"/>
            <a:ext cx="192024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7" name="Text 15"/>
          <p:cNvSpPr/>
          <p:nvPr/>
        </p:nvSpPr>
        <p:spPr>
          <a:xfrm>
            <a:off x="6720840" y="1280160"/>
            <a:ext cx="1920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>
                <a:solidFill>
                  <a:srgbClr val="791F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0%</a:t>
            </a:r>
            <a:endParaRPr lang="en-US" sz="3200"/>
          </a:p>
        </p:txBody>
      </p:sp>
      <p:sp>
        <p:nvSpPr>
          <p:cNvPr id="18" name="Text 16"/>
          <p:cNvSpPr/>
          <p:nvPr/>
        </p:nvSpPr>
        <p:spPr>
          <a:xfrm>
            <a:off x="6720840" y="196596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>
                <a:solidFill>
                  <a:srgbClr val="1E293B"/>
                </a:solidFill>
              </a:rPr>
              <a:t>Top 3 Opportunity</a:t>
            </a:r>
            <a:endParaRPr lang="en-US" sz="1200"/>
          </a:p>
        </p:txBody>
      </p:sp>
      <p:sp>
        <p:nvSpPr>
          <p:cNvPr id="19" name="Text 17"/>
          <p:cNvSpPr/>
          <p:nvPr/>
        </p:nvSpPr>
        <p:spPr>
          <a:xfrm>
            <a:off x="6720840" y="2286000"/>
            <a:ext cx="1920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>
                <a:solidFill>
                  <a:srgbClr val="64748B"/>
                </a:solidFill>
              </a:rPr>
              <a:t>categories in healthy zone</a:t>
            </a:r>
            <a:endParaRPr lang="en-US" sz="1000"/>
          </a:p>
        </p:txBody>
      </p:sp>
      <p:sp>
        <p:nvSpPr>
          <p:cNvPr id="20" name="Shape 18"/>
          <p:cNvSpPr/>
          <p:nvPr/>
        </p:nvSpPr>
        <p:spPr>
          <a:xfrm>
            <a:off x="274320" y="2880360"/>
            <a:ext cx="8595360" cy="105156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1" name="Shape 19"/>
          <p:cNvSpPr/>
          <p:nvPr/>
        </p:nvSpPr>
        <p:spPr>
          <a:xfrm>
            <a:off x="274320" y="2880360"/>
            <a:ext cx="109728" cy="1051560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2" name="Text 20"/>
          <p:cNvSpPr/>
          <p:nvPr/>
        </p:nvSpPr>
        <p:spPr>
          <a:xfrm>
            <a:off x="502920" y="2926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3B6D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</a:t>
            </a:r>
            <a:endParaRPr lang="en-US" sz="1000"/>
          </a:p>
        </p:txBody>
      </p:sp>
      <p:sp>
        <p:nvSpPr>
          <p:cNvPr id="23" name="Text 21"/>
          <p:cNvSpPr/>
          <p:nvPr/>
        </p:nvSpPr>
        <p:spPr>
          <a:xfrm>
            <a:off x="502920" y="32004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data, the biggest market opportunities are in Ice Cream &amp; Frozen Snacks, Fruit Snacks, and Popcorn ,all with 0% of products in the high-protein, low-sugar quadrant. We recommend targeting products with &gt;= 15g protein and &lt; 8g sugar per 100g.</a:t>
            </a:r>
            <a:endParaRPr lang="en-US" sz="13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3 : The Nutrient Matrix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>
                <a:solidFill>
                  <a:srgbClr val="64748B"/>
                </a:solidFill>
              </a:rPr>
              <a:t>Sugar (X-axis) vs Protein (Y-axis) by Category</a:t>
            </a:r>
            <a:endParaRPr lang="en-US" sz="140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560320" cy="146304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6" name="Text 4"/>
          <p:cNvSpPr/>
          <p:nvPr/>
        </p:nvSpPr>
        <p:spPr>
          <a:xfrm>
            <a:off x="4572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3B6D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ZONE</a:t>
            </a:r>
            <a:endParaRPr lang="en-US" sz="130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Protein + Low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2750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 Ocean - virtually empty</a:t>
            </a:r>
            <a:endParaRPr lang="en-US" sz="1200"/>
          </a:p>
        </p:txBody>
      </p:sp>
      <p:sp>
        <p:nvSpPr>
          <p:cNvPr id="8" name="Shape 6"/>
          <p:cNvSpPr/>
          <p:nvPr/>
        </p:nvSpPr>
        <p:spPr>
          <a:xfrm>
            <a:off x="3108960" y="1554480"/>
            <a:ext cx="256032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Text 7"/>
          <p:cNvSpPr/>
          <p:nvPr/>
        </p:nvSpPr>
        <p:spPr>
          <a:xfrm>
            <a:off x="3200400" y="164592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GROUND</a:t>
            </a:r>
            <a:endParaRPr lang="en-US" sz="1300"/>
          </a:p>
        </p:txBody>
      </p:sp>
      <p:sp>
        <p:nvSpPr>
          <p:cNvPr id="10" name="Text 8"/>
          <p:cNvSpPr/>
          <p:nvPr/>
        </p:nvSpPr>
        <p:spPr>
          <a:xfrm>
            <a:off x="3200400" y="205740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Protein + High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 healthy options exist</a:t>
            </a:r>
            <a:endParaRPr lang="en-US" sz="1200"/>
          </a:p>
        </p:txBody>
      </p:sp>
      <p:sp>
        <p:nvSpPr>
          <p:cNvPr id="11" name="Shape 9"/>
          <p:cNvSpPr/>
          <p:nvPr/>
        </p:nvSpPr>
        <p:spPr>
          <a:xfrm>
            <a:off x="365760" y="3200400"/>
            <a:ext cx="2560320" cy="1463040"/>
          </a:xfrm>
          <a:prstGeom prst="rect">
            <a:avLst/>
          </a:prstGeom>
          <a:solidFill>
            <a:srgbClr val="F2F2F2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PROTEIN</a:t>
            </a:r>
            <a:endParaRPr lang="en-US" sz="1300"/>
          </a:p>
        </p:txBody>
      </p:sp>
      <p:sp>
        <p:nvSpPr>
          <p:cNvPr id="13" name="Text 11"/>
          <p:cNvSpPr/>
          <p:nvPr/>
        </p:nvSpPr>
        <p:spPr>
          <a:xfrm>
            <a:off x="457200" y="3703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Protein + Low Sugar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consumer appeal</a:t>
            </a:r>
            <a:endParaRPr lang="en-US" sz="1200"/>
          </a:p>
        </p:txBody>
      </p:sp>
      <p:sp>
        <p:nvSpPr>
          <p:cNvPr id="14" name="Shape 12"/>
          <p:cNvSpPr/>
          <p:nvPr/>
        </p:nvSpPr>
        <p:spPr>
          <a:xfrm>
            <a:off x="3108960" y="3200400"/>
            <a:ext cx="2560320" cy="146304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Text 13"/>
          <p:cNvSpPr/>
          <p:nvPr/>
        </p:nvSpPr>
        <p:spPr>
          <a:xfrm>
            <a:off x="3200400" y="32918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DANGER ZONE</a:t>
            </a:r>
            <a:endParaRPr lang="en-US" sz="1300"/>
          </a:p>
        </p:txBody>
      </p:sp>
      <p:sp>
        <p:nvSpPr>
          <p:cNvPr id="16" name="Text 14"/>
          <p:cNvSpPr/>
          <p:nvPr/>
        </p:nvSpPr>
        <p:spPr>
          <a:xfrm>
            <a:off x="3200400" y="370332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Sugar + Low Protein</a:t>
            </a:r>
            <a:endParaRPr lang="en-US" sz="1200"/>
          </a:p>
          <a:p>
            <a:pPr marL="0" indent="0">
              <a:buNone/>
            </a:pPr>
            <a:r>
              <a:rPr lang="en-US" sz="1200">
                <a:solidFill>
                  <a:srgbClr val="791F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Oversaturated — most products here</a:t>
            </a:r>
            <a:endParaRPr lang="en-US" sz="1200"/>
          </a:p>
        </p:txBody>
      </p:sp>
      <p:sp>
        <p:nvSpPr>
          <p:cNvPr id="17" name="Shape 15"/>
          <p:cNvSpPr/>
          <p:nvPr/>
        </p:nvSpPr>
        <p:spPr>
          <a:xfrm>
            <a:off x="2926080" y="1554480"/>
            <a:ext cx="0" cy="3108960"/>
          </a:xfrm>
          <a:prstGeom prst="line">
            <a:avLst/>
          </a:prstGeom>
          <a:noFill/>
          <a:ln w="25400">
            <a:solidFill>
              <a:srgbClr val="E63946"/>
            </a:solidFill>
            <a:prstDash val="dash"/>
          </a:ln>
        </p:spPr>
        <p:txBody>
          <a:bodyPr/>
          <a:lstStyle/>
          <a:p>
            <a:endParaRPr lang="en-GH"/>
          </a:p>
        </p:txBody>
      </p:sp>
      <p:sp>
        <p:nvSpPr>
          <p:cNvPr id="18" name="Shape 16"/>
          <p:cNvSpPr/>
          <p:nvPr/>
        </p:nvSpPr>
        <p:spPr>
          <a:xfrm>
            <a:off x="365760" y="3108960"/>
            <a:ext cx="5303520" cy="0"/>
          </a:xfrm>
          <a:prstGeom prst="line">
            <a:avLst/>
          </a:prstGeom>
          <a:noFill/>
          <a:ln w="25400">
            <a:solidFill>
              <a:srgbClr val="2A9D8F"/>
            </a:solidFill>
            <a:prstDash val="dash"/>
          </a:ln>
        </p:spPr>
        <p:txBody>
          <a:bodyPr/>
          <a:lstStyle/>
          <a:p>
            <a:endParaRPr lang="en-GH"/>
          </a:p>
        </p:txBody>
      </p:sp>
      <p:sp>
        <p:nvSpPr>
          <p:cNvPr id="19" name="Text 17"/>
          <p:cNvSpPr/>
          <p:nvPr/>
        </p:nvSpPr>
        <p:spPr>
          <a:xfrm>
            <a:off x="2743200" y="1417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/>
          </a:p>
        </p:txBody>
      </p:sp>
      <p:sp>
        <p:nvSpPr>
          <p:cNvPr id="20" name="Text 18"/>
          <p:cNvSpPr/>
          <p:nvPr/>
        </p:nvSpPr>
        <p:spPr>
          <a:xfrm>
            <a:off x="5715000" y="303580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A9D8F"/>
                </a:solidFill>
              </a:rPr>
              <a:t>15g Protein</a:t>
            </a:r>
            <a:endParaRPr lang="en-US" sz="1000"/>
          </a:p>
        </p:txBody>
      </p:sp>
      <p:sp>
        <p:nvSpPr>
          <p:cNvPr id="21" name="Text 19"/>
          <p:cNvSpPr/>
          <p:nvPr/>
        </p:nvSpPr>
        <p:spPr>
          <a:xfrm>
            <a:off x="5852160" y="155448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takeaway: less products are in the Target Zone. The dashboard scatter plot shows this visually  clusters concentrated in the Danger Zone.</a:t>
            </a:r>
            <a:endParaRPr lang="en-US" sz="1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4 :The Recommendation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Gap Index - % of Products Already in Healthy Zone (Lower = Bigger Opportunity)</a:t>
            </a:r>
            <a:endParaRPr lang="en-US" sz="13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463040"/>
          <a:ext cx="5669280" cy="3429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6126480" y="1508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OPPORTUNITIES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6126480" y="196596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8" name="Text 5"/>
          <p:cNvSpPr/>
          <p:nvPr/>
        </p:nvSpPr>
        <p:spPr>
          <a:xfrm>
            <a:off x="6217920" y="201168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1.</a:t>
            </a:r>
            <a:endParaRPr lang="en-US" sz="1600"/>
          </a:p>
        </p:txBody>
      </p:sp>
      <p:sp>
        <p:nvSpPr>
          <p:cNvPr id="9" name="Text 6"/>
          <p:cNvSpPr/>
          <p:nvPr/>
        </p:nvSpPr>
        <p:spPr>
          <a:xfrm>
            <a:off x="6537960" y="2011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Ice Cream &amp; Frozen</a:t>
            </a:r>
            <a:endParaRPr lang="en-US" sz="1300"/>
          </a:p>
        </p:txBody>
      </p:sp>
      <p:sp>
        <p:nvSpPr>
          <p:cNvPr id="10" name="Text 7"/>
          <p:cNvSpPr/>
          <p:nvPr/>
        </p:nvSpPr>
        <p:spPr>
          <a:xfrm>
            <a:off x="6537960" y="22860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1" name="Shape 8"/>
          <p:cNvSpPr/>
          <p:nvPr/>
        </p:nvSpPr>
        <p:spPr>
          <a:xfrm>
            <a:off x="6126480" y="274320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2" name="Text 9"/>
          <p:cNvSpPr/>
          <p:nvPr/>
        </p:nvSpPr>
        <p:spPr>
          <a:xfrm>
            <a:off x="6217920" y="278892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2.</a:t>
            </a:r>
            <a:endParaRPr lang="en-US" sz="1600"/>
          </a:p>
        </p:txBody>
      </p:sp>
      <p:sp>
        <p:nvSpPr>
          <p:cNvPr id="13" name="Text 10"/>
          <p:cNvSpPr/>
          <p:nvPr/>
        </p:nvSpPr>
        <p:spPr>
          <a:xfrm>
            <a:off x="6537960" y="2788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Fruit Snacks</a:t>
            </a:r>
            <a:endParaRPr lang="en-US" sz="1300"/>
          </a:p>
        </p:txBody>
      </p:sp>
      <p:sp>
        <p:nvSpPr>
          <p:cNvPr id="14" name="Text 11"/>
          <p:cNvSpPr/>
          <p:nvPr/>
        </p:nvSpPr>
        <p:spPr>
          <a:xfrm>
            <a:off x="6537960" y="306324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5" name="Shape 12"/>
          <p:cNvSpPr/>
          <p:nvPr/>
        </p:nvSpPr>
        <p:spPr>
          <a:xfrm>
            <a:off x="6126480" y="3520440"/>
            <a:ext cx="2743200" cy="640080"/>
          </a:xfrm>
          <a:prstGeom prst="rect">
            <a:avLst/>
          </a:prstGeom>
          <a:solidFill>
            <a:srgbClr val="FCEBEB"/>
          </a:solidFill>
          <a:ln w="12700">
            <a:solidFill>
              <a:srgbClr val="F7C1C1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6" name="Text 13"/>
          <p:cNvSpPr/>
          <p:nvPr/>
        </p:nvSpPr>
        <p:spPr>
          <a:xfrm>
            <a:off x="6217920" y="3566160"/>
            <a:ext cx="274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E63946"/>
                </a:solidFill>
              </a:rPr>
              <a:t>3.</a:t>
            </a:r>
            <a:endParaRPr lang="en-US" sz="1600"/>
          </a:p>
        </p:txBody>
      </p:sp>
      <p:sp>
        <p:nvSpPr>
          <p:cNvPr id="17" name="Text 14"/>
          <p:cNvSpPr/>
          <p:nvPr/>
        </p:nvSpPr>
        <p:spPr>
          <a:xfrm>
            <a:off x="6537960" y="3566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501313"/>
                </a:solidFill>
              </a:rPr>
              <a:t>Popcorn</a:t>
            </a:r>
            <a:endParaRPr lang="en-US" sz="1300"/>
          </a:p>
        </p:txBody>
      </p:sp>
      <p:sp>
        <p:nvSpPr>
          <p:cNvPr id="18" name="Text 15"/>
          <p:cNvSpPr/>
          <p:nvPr/>
        </p:nvSpPr>
        <p:spPr>
          <a:xfrm>
            <a:off x="6537960" y="384048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791F1F"/>
                </a:solidFill>
              </a:rPr>
              <a:t>0.0% in healthy zone</a:t>
            </a:r>
            <a:endParaRPr lang="en-US" sz="1000"/>
          </a:p>
        </p:txBody>
      </p:sp>
      <p:sp>
        <p:nvSpPr>
          <p:cNvPr id="19" name="Shape 16"/>
          <p:cNvSpPr/>
          <p:nvPr/>
        </p:nvSpPr>
        <p:spPr>
          <a:xfrm>
            <a:off x="6126480" y="4251960"/>
            <a:ext cx="2743200" cy="59436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7"/>
          <p:cNvSpPr/>
          <p:nvPr/>
        </p:nvSpPr>
        <p:spPr>
          <a:xfrm>
            <a:off x="6217920" y="4279392"/>
            <a:ext cx="25603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R&amp;D Target: &gt;= 15g protein</a:t>
            </a:r>
            <a:endParaRPr lang="en-US" sz="1100"/>
          </a:p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and &lt; 8g sugar per 100g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5 : The Hidden Gem</a:t>
            </a:r>
            <a:endParaRPr lang="en-US" sz="28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Top Protein Sources in High-Protein Snacks (&gt;= 15g protein per 100g)</a:t>
            </a:r>
            <a:endParaRPr lang="en-US" sz="1300"/>
          </a:p>
        </p:txBody>
      </p:sp>
      <p:sp>
        <p:nvSpPr>
          <p:cNvPr id="6" name="Text 3"/>
          <p:cNvSpPr/>
          <p:nvPr/>
        </p:nvSpPr>
        <p:spPr>
          <a:xfrm>
            <a:off x="5760720" y="1508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</a:rPr>
              <a:t>R&amp;D RECOMMENDATION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760720" y="196596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8" name="Shape 5"/>
          <p:cNvSpPr/>
          <p:nvPr/>
        </p:nvSpPr>
        <p:spPr>
          <a:xfrm>
            <a:off x="5852160" y="2029968"/>
            <a:ext cx="457200" cy="457200"/>
          </a:xfrm>
          <a:prstGeom prst="ellipse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9" name="Text 6"/>
          <p:cNvSpPr/>
          <p:nvPr/>
        </p:nvSpPr>
        <p:spPr>
          <a:xfrm>
            <a:off x="5852160" y="20299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1</a:t>
            </a:r>
            <a:endParaRPr lang="en-US" sz="1600"/>
          </a:p>
        </p:txBody>
      </p:sp>
      <p:sp>
        <p:nvSpPr>
          <p:cNvPr id="10" name="Text 7"/>
          <p:cNvSpPr/>
          <p:nvPr/>
        </p:nvSpPr>
        <p:spPr>
          <a:xfrm>
            <a:off x="64008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F6E56"/>
                </a:solidFill>
              </a:rPr>
              <a:t>Soy</a:t>
            </a:r>
            <a:endParaRPr lang="en-US" sz="1400"/>
          </a:p>
        </p:txBody>
      </p:sp>
      <p:sp>
        <p:nvSpPr>
          <p:cNvPr id="11" name="Text 8"/>
          <p:cNvSpPr/>
          <p:nvPr/>
        </p:nvSpPr>
        <p:spPr>
          <a:xfrm>
            <a:off x="6400800" y="233172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8,420 products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5760720" y="278892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3" name="Shape 10"/>
          <p:cNvSpPr/>
          <p:nvPr/>
        </p:nvSpPr>
        <p:spPr>
          <a:xfrm>
            <a:off x="5852160" y="2852928"/>
            <a:ext cx="457200" cy="457200"/>
          </a:xfrm>
          <a:prstGeom prst="ellipse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4" name="Text 11"/>
          <p:cNvSpPr/>
          <p:nvPr/>
        </p:nvSpPr>
        <p:spPr>
          <a:xfrm>
            <a:off x="5852160" y="2852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2</a:t>
            </a:r>
            <a:endParaRPr lang="en-US" sz="1600"/>
          </a:p>
        </p:txBody>
      </p:sp>
      <p:sp>
        <p:nvSpPr>
          <p:cNvPr id="15" name="Text 12"/>
          <p:cNvSpPr/>
          <p:nvPr/>
        </p:nvSpPr>
        <p:spPr>
          <a:xfrm>
            <a:off x="6400800" y="28803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1D9E75"/>
                </a:solidFill>
              </a:rPr>
              <a:t>Peanut</a:t>
            </a:r>
            <a:endParaRPr lang="en-US" sz="1400"/>
          </a:p>
        </p:txBody>
      </p:sp>
      <p:sp>
        <p:nvSpPr>
          <p:cNvPr id="16" name="Text 13"/>
          <p:cNvSpPr/>
          <p:nvPr/>
        </p:nvSpPr>
        <p:spPr>
          <a:xfrm>
            <a:off x="6400800" y="31546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7,010 products</a:t>
            </a:r>
            <a:endParaRPr lang="en-US" sz="1100"/>
          </a:p>
        </p:txBody>
      </p:sp>
      <p:sp>
        <p:nvSpPr>
          <p:cNvPr id="17" name="Shape 14"/>
          <p:cNvSpPr/>
          <p:nvPr/>
        </p:nvSpPr>
        <p:spPr>
          <a:xfrm>
            <a:off x="5760720" y="3611880"/>
            <a:ext cx="3200400" cy="685800"/>
          </a:xfrm>
          <a:prstGeom prst="rect">
            <a:avLst/>
          </a:prstGeom>
          <a:solidFill>
            <a:srgbClr val="E1F5EE"/>
          </a:solidFill>
          <a:ln w="12700">
            <a:solidFill>
              <a:srgbClr val="9FE1C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GH"/>
          </a:p>
        </p:txBody>
      </p:sp>
      <p:sp>
        <p:nvSpPr>
          <p:cNvPr id="18" name="Shape 15"/>
          <p:cNvSpPr/>
          <p:nvPr/>
        </p:nvSpPr>
        <p:spPr>
          <a:xfrm>
            <a:off x="5852160" y="3675888"/>
            <a:ext cx="457200" cy="4572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Text 16"/>
          <p:cNvSpPr/>
          <p:nvPr/>
        </p:nvSpPr>
        <p:spPr>
          <a:xfrm>
            <a:off x="5852160" y="36758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>
                <a:solidFill>
                  <a:srgbClr val="FFFFFF"/>
                </a:solidFill>
              </a:rPr>
              <a:t>3</a:t>
            </a:r>
            <a:endParaRPr lang="en-US" sz="1600"/>
          </a:p>
        </p:txBody>
      </p:sp>
      <p:sp>
        <p:nvSpPr>
          <p:cNvPr id="20" name="Text 17"/>
          <p:cNvSpPr/>
          <p:nvPr/>
        </p:nvSpPr>
        <p:spPr>
          <a:xfrm>
            <a:off x="6400800" y="37033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2A9D8F"/>
                </a:solidFill>
              </a:rPr>
              <a:t>Oat</a:t>
            </a:r>
            <a:endParaRPr lang="en-US" sz="1400"/>
          </a:p>
        </p:txBody>
      </p:sp>
      <p:sp>
        <p:nvSpPr>
          <p:cNvPr id="21" name="Text 18"/>
          <p:cNvSpPr/>
          <p:nvPr/>
        </p:nvSpPr>
        <p:spPr>
          <a:xfrm>
            <a:off x="6400800" y="397764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64748B"/>
                </a:solidFill>
              </a:rPr>
              <a:t>5,940 products</a:t>
            </a:r>
            <a:endParaRPr lang="en-US" sz="1100"/>
          </a:p>
        </p:txBody>
      </p:sp>
      <p:sp>
        <p:nvSpPr>
          <p:cNvPr id="22" name="Shape 19"/>
          <p:cNvSpPr/>
          <p:nvPr/>
        </p:nvSpPr>
        <p:spPr>
          <a:xfrm>
            <a:off x="5760720" y="4434840"/>
            <a:ext cx="3200400" cy="50292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3" name="Text 20"/>
          <p:cNvSpPr/>
          <p:nvPr/>
        </p:nvSpPr>
        <p:spPr>
          <a:xfrm>
            <a:off x="5852160" y="446227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Use soy , Peanut, or Soat as</a:t>
            </a:r>
            <a:endParaRPr lang="en-US" sz="1100"/>
          </a:p>
          <a:p>
            <a:pPr marL="0" indent="0">
              <a:buNone/>
            </a:pPr>
            <a:r>
              <a:rPr lang="en-US" sz="1100" b="1">
                <a:solidFill>
                  <a:srgbClr val="27500A"/>
                </a:solidFill>
              </a:rPr>
              <a:t>primary protein sources in new products</a:t>
            </a:r>
            <a:endParaRPr lang="en-US" sz="110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88A1EF53-5533-ACBC-8D49-9BA70C96C7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736658"/>
            <a:ext cx="5097780" cy="30182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F3864"/>
          </a:solidFill>
          <a:ln w="1270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 6 : Candidate's Choice: Triple Opportunity</a:t>
            </a:r>
            <a:endParaRPr lang="en-US" sz="2600"/>
          </a:p>
        </p:txBody>
      </p:sp>
      <p:sp>
        <p:nvSpPr>
          <p:cNvPr id="4" name="Text 2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>
                <a:solidFill>
                  <a:srgbClr val="64748B"/>
                </a:solidFill>
              </a:rPr>
              <a:t>What I Added: Triple Opportunity Index -High Protein + High Fiber + Low Sugar</a:t>
            </a:r>
            <a:endParaRPr lang="en-US" sz="1300"/>
          </a:p>
        </p:txBody>
      </p:sp>
      <p:graphicFrame>
        <p:nvGraphicFramePr>
          <p:cNvPr id="5" name="Chart 0"/>
          <p:cNvGraphicFramePr/>
          <p:nvPr/>
        </p:nvGraphicFramePr>
        <p:xfrm>
          <a:off x="274320" y="1463040"/>
          <a:ext cx="530352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760720" y="150876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1F3864"/>
                </a:solidFill>
              </a:rPr>
              <a:t>WHY I ADDED THIS</a:t>
            </a:r>
            <a:endParaRPr lang="en-US" sz="1200"/>
          </a:p>
        </p:txBody>
      </p:sp>
      <p:sp>
        <p:nvSpPr>
          <p:cNvPr id="7" name="Shape 4"/>
          <p:cNvSpPr/>
          <p:nvPr/>
        </p:nvSpPr>
        <p:spPr>
          <a:xfrm>
            <a:off x="5760720" y="1920240"/>
            <a:ext cx="3200400" cy="2560320"/>
          </a:xfrm>
          <a:prstGeom prst="rect">
            <a:avLst/>
          </a:prstGeom>
          <a:solidFill>
            <a:srgbClr val="E6F1FB"/>
          </a:solidFill>
          <a:ln w="12700">
            <a:solidFill>
              <a:srgbClr val="B5D4F4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5"/>
          <p:cNvSpPr/>
          <p:nvPr/>
        </p:nvSpPr>
        <p:spPr>
          <a:xfrm>
            <a:off x="5852160" y="201168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mentions High Protein AND High Fiber ,but Stories 3 &amp; 4 only measure sugar vs protein</a:t>
            </a:r>
            <a:endParaRPr lang="en-US" sz="1100"/>
          </a:p>
        </p:txBody>
      </p:sp>
      <p:sp>
        <p:nvSpPr>
          <p:cNvPr id="9" name="Text 6"/>
          <p:cNvSpPr/>
          <p:nvPr/>
        </p:nvSpPr>
        <p:spPr>
          <a:xfrm>
            <a:off x="5852160" y="26060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triple-claim product commands a premium price point</a:t>
            </a:r>
            <a:endParaRPr lang="en-US" sz="1100"/>
          </a:p>
        </p:txBody>
      </p:sp>
      <p:sp>
        <p:nvSpPr>
          <p:cNvPr id="10" name="Text 7"/>
          <p:cNvSpPr/>
          <p:nvPr/>
        </p:nvSpPr>
        <p:spPr>
          <a:xfrm>
            <a:off x="5852160" y="32004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Meets EU criteria for both high protein AND high fiber front-of-pack claims</a:t>
            </a:r>
            <a:endParaRPr lang="en-US" sz="1100"/>
          </a:p>
        </p:txBody>
      </p:sp>
      <p:sp>
        <p:nvSpPr>
          <p:cNvPr id="11" name="Text 8"/>
          <p:cNvSpPr/>
          <p:nvPr/>
        </p:nvSpPr>
        <p:spPr>
          <a:xfrm>
            <a:off x="5852160" y="379476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>
                <a:solidFill>
                  <a:srgbClr val="185F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r>
              <a:rPr lang="en-US" sz="110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Reveals an even rarer market position  harder for competitors to copy</a:t>
            </a:r>
            <a:endParaRPr lang="en-US" sz="1100"/>
          </a:p>
        </p:txBody>
      </p:sp>
      <p:sp>
        <p:nvSpPr>
          <p:cNvPr id="12" name="Shape 9"/>
          <p:cNvSpPr/>
          <p:nvPr/>
        </p:nvSpPr>
        <p:spPr>
          <a:xfrm>
            <a:off x="5760720" y="4663440"/>
            <a:ext cx="3200400" cy="274320"/>
          </a:xfrm>
          <a:prstGeom prst="rect">
            <a:avLst/>
          </a:prstGeom>
          <a:solidFill>
            <a:srgbClr val="EAF3DE"/>
          </a:solidFill>
          <a:ln w="12700">
            <a:solidFill>
              <a:srgbClr val="C0DD97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3" name="Text 10"/>
          <p:cNvSpPr/>
          <p:nvPr/>
        </p:nvSpPr>
        <p:spPr>
          <a:xfrm>
            <a:off x="5806440" y="4681728"/>
            <a:ext cx="31089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27500A"/>
                </a:solidFill>
              </a:rPr>
              <a:t>Criteria: &gt;= 15g protein | &lt;= 10g sugar | &gt;= 5g fiber</a:t>
            </a:r>
            <a:endParaRPr lang="en-US" sz="1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3" name="Text 1"/>
          <p:cNvSpPr/>
          <p:nvPr/>
        </p:nvSpPr>
        <p:spPr>
          <a:xfrm>
            <a:off x="320040" y="365760"/>
            <a:ext cx="8503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Our Recommendation</a:t>
            </a:r>
            <a:endParaRPr lang="en-US" sz="320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8503920" cy="12801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5" name="Text 3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data, the biggest market opportunity is in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Ice Cream &amp; Frozen Snacks, Fruit Snacks, and Popcorn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,specifically targeting products with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&gt;= 15g of protein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less than </a:t>
            </a:r>
            <a:r>
              <a:rPr lang="en-US" sz="1500" b="1">
                <a:solidFill>
                  <a:srgbClr val="E9C4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8g of sugar</a:t>
            </a:r>
            <a:r>
              <a:rPr lang="en-US" sz="15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per 100g.</a:t>
            </a:r>
            <a:endParaRPr lang="en-US" sz="1500"/>
          </a:p>
        </p:txBody>
      </p:sp>
      <p:sp>
        <p:nvSpPr>
          <p:cNvPr id="6" name="Shape 4"/>
          <p:cNvSpPr/>
          <p:nvPr/>
        </p:nvSpPr>
        <p:spPr>
          <a:xfrm>
            <a:off x="320040" y="2606040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7" name="Shape 5"/>
          <p:cNvSpPr/>
          <p:nvPr/>
        </p:nvSpPr>
        <p:spPr>
          <a:xfrm>
            <a:off x="320040" y="2606040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8" name="Text 6"/>
          <p:cNvSpPr/>
          <p:nvPr/>
        </p:nvSpPr>
        <p:spPr>
          <a:xfrm>
            <a:off x="320040" y="260604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71.4%</a:t>
            </a:r>
            <a:endParaRPr lang="en-US" sz="1400"/>
          </a:p>
        </p:txBody>
      </p:sp>
      <p:sp>
        <p:nvSpPr>
          <p:cNvPr id="9" name="Text 7"/>
          <p:cNvSpPr/>
          <p:nvPr/>
        </p:nvSpPr>
        <p:spPr>
          <a:xfrm>
            <a:off x="1737360" y="2624328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snacks are in the Danger Zone - oversaturated market</a:t>
            </a:r>
            <a:endParaRPr lang="en-US" sz="1300"/>
          </a:p>
        </p:txBody>
      </p:sp>
      <p:sp>
        <p:nvSpPr>
          <p:cNvPr id="10" name="Shape 8"/>
          <p:cNvSpPr/>
          <p:nvPr/>
        </p:nvSpPr>
        <p:spPr>
          <a:xfrm>
            <a:off x="320040" y="3182112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1" name="Shape 9"/>
          <p:cNvSpPr/>
          <p:nvPr/>
        </p:nvSpPr>
        <p:spPr>
          <a:xfrm>
            <a:off x="320040" y="3182112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2" name="Text 10"/>
          <p:cNvSpPr/>
          <p:nvPr/>
        </p:nvSpPr>
        <p:spPr>
          <a:xfrm>
            <a:off x="320040" y="318211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4.2%</a:t>
            </a:r>
            <a:endParaRPr lang="en-US" sz="1400"/>
          </a:p>
        </p:txBody>
      </p:sp>
      <p:sp>
        <p:nvSpPr>
          <p:cNvPr id="13" name="Text 11"/>
          <p:cNvSpPr/>
          <p:nvPr/>
        </p:nvSpPr>
        <p:spPr>
          <a:xfrm>
            <a:off x="1737360" y="320040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products occupy the healthy quadrant -Blue Ocean confirmed</a:t>
            </a:r>
            <a:endParaRPr lang="en-US" sz="1300"/>
          </a:p>
        </p:txBody>
      </p:sp>
      <p:sp>
        <p:nvSpPr>
          <p:cNvPr id="14" name="Shape 12"/>
          <p:cNvSpPr/>
          <p:nvPr/>
        </p:nvSpPr>
        <p:spPr>
          <a:xfrm>
            <a:off x="320040" y="3758184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5" name="Shape 13"/>
          <p:cNvSpPr/>
          <p:nvPr/>
        </p:nvSpPr>
        <p:spPr>
          <a:xfrm>
            <a:off x="320040" y="3758184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6" name="Text 14"/>
          <p:cNvSpPr/>
          <p:nvPr/>
        </p:nvSpPr>
        <p:spPr>
          <a:xfrm>
            <a:off x="320040" y="375818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0%</a:t>
            </a:r>
            <a:endParaRPr lang="en-US" sz="1400"/>
          </a:p>
        </p:txBody>
      </p:sp>
      <p:sp>
        <p:nvSpPr>
          <p:cNvPr id="17" name="Text 15"/>
          <p:cNvSpPr/>
          <p:nvPr/>
        </p:nvSpPr>
        <p:spPr>
          <a:xfrm>
            <a:off x="1737360" y="3776472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Ice Cream, Fruit Snacks, Popcorn products meet healthy criteria</a:t>
            </a:r>
            <a:endParaRPr lang="en-US" sz="1300"/>
          </a:p>
        </p:txBody>
      </p:sp>
      <p:sp>
        <p:nvSpPr>
          <p:cNvPr id="18" name="Shape 16"/>
          <p:cNvSpPr/>
          <p:nvPr/>
        </p:nvSpPr>
        <p:spPr>
          <a:xfrm>
            <a:off x="320040" y="4334256"/>
            <a:ext cx="8503920" cy="502920"/>
          </a:xfrm>
          <a:prstGeom prst="rect">
            <a:avLst/>
          </a:prstGeom>
          <a:solidFill>
            <a:srgbClr val="16284F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19" name="Shape 17"/>
          <p:cNvSpPr/>
          <p:nvPr/>
        </p:nvSpPr>
        <p:spPr>
          <a:xfrm>
            <a:off x="320040" y="4334256"/>
            <a:ext cx="1280160" cy="502920"/>
          </a:xfrm>
          <a:prstGeom prst="rect">
            <a:avLst/>
          </a:prstGeom>
          <a:solidFill>
            <a:srgbClr val="253F70"/>
          </a:solidFill>
          <a:ln w="12700">
            <a:solidFill>
              <a:srgbClr val="1F3D6E"/>
            </a:solidFill>
            <a:prstDash val="solid"/>
          </a:ln>
        </p:spPr>
        <p:txBody>
          <a:bodyPr/>
          <a:lstStyle/>
          <a:p>
            <a:endParaRPr lang="en-GH"/>
          </a:p>
        </p:txBody>
      </p:sp>
      <p:sp>
        <p:nvSpPr>
          <p:cNvPr id="20" name="Text 18"/>
          <p:cNvSpPr/>
          <p:nvPr/>
        </p:nvSpPr>
        <p:spPr>
          <a:xfrm>
            <a:off x="320040" y="433425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>
                <a:solidFill>
                  <a:srgbClr val="E9C46A"/>
                </a:solidFill>
              </a:rPr>
              <a:t>Soy</a:t>
            </a:r>
            <a:endParaRPr lang="en-US" sz="1400"/>
          </a:p>
        </p:txBody>
      </p:sp>
      <p:sp>
        <p:nvSpPr>
          <p:cNvPr id="21" name="Text 19"/>
          <p:cNvSpPr/>
          <p:nvPr/>
        </p:nvSpPr>
        <p:spPr>
          <a:xfrm>
            <a:off x="1737360" y="4352544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Peanut, Oat, top 3 protein sources for R&amp;D formulation</a:t>
            </a:r>
            <a:endParaRPr lang="en-US" sz="13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bf98d2-bf92-4575-845a-27a8200a6ff2}" enabled="1" method="Privileged" siteId="{b20a8f4d-0d6a-4f2e-83a2-181c968f888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9</Slides>
  <Notes>9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Sugar Trap — Market Gap Analysis</dc:title>
  <dc:subject>PptxGenJS Presentation</dc:subject>
  <dc:creator>PptxGenJS</dc:creator>
  <cp:revision>1</cp:revision>
  <dcterms:created xsi:type="dcterms:W3CDTF">2026-04-27T09:06:00Z</dcterms:created>
  <dcterms:modified xsi:type="dcterms:W3CDTF">2026-04-27T09:58:27Z</dcterms:modified>
</cp:coreProperties>
</file>